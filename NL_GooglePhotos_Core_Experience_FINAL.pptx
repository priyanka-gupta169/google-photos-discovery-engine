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photos-discovery-engine-fa3ckmfdn4mudlheyg2yxs.streamlit.app/"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1A73E8"/>
                </a:solidFill>
                <a:latin typeface="Segoe UI"/>
              </a:defRPr>
            </a:pPr>
            <a:r>
              <a:t>GOOGLE PHOTOS CORE EXPERIENCE · PRODUCT DISCOVERY CASE STUDY</a:t>
            </a:r>
          </a:p>
          <a:p>
            <a:pPr>
              <a:defRPr sz="2500" b="1">
                <a:solidFill>
                  <a:srgbClr val="0F172A"/>
                </a:solidFill>
                <a:latin typeface="Segoe UI"/>
              </a:defRPr>
            </a:pPr>
            <a:r>
              <a:t>Users Remember the Moment — Not the Exact Search Terms</a:t>
            </a:r>
          </a:p>
          <a:p>
            <a:pPr>
              <a:spcBef>
                <a:spcPts val="300"/>
              </a:spcBef>
              <a:defRPr sz="1300">
                <a:solidFill>
                  <a:srgbClr val="475569"/>
                </a:solidFill>
                <a:latin typeface="Segoe UI"/>
              </a:defRPr>
            </a:pPr>
            <a:r>
              <a:t>Addressing core retrieval friction in personal cloud archives through AI-assisted episodic memory interpretation</a:t>
            </a:r>
          </a:p>
        </p:txBody>
      </p:sp>
      <p:sp>
        <p:nvSpPr>
          <p:cNvPr id="4" name="Rounded Rectangle 3"/>
          <p:cNvSpPr/>
          <p:nvPr/>
        </p:nvSpPr>
        <p:spPr>
          <a:xfrm>
            <a:off x="731520" y="1691640"/>
            <a:ext cx="6217920"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74519"/>
            <a:ext cx="5669280" cy="4343400"/>
          </a:xfrm>
          <a:prstGeom prst="rect">
            <a:avLst/>
          </a:prstGeom>
          <a:noFill/>
        </p:spPr>
        <p:txBody>
          <a:bodyPr wrap="square" lIns="0" tIns="0" rIns="0" bIns="0">
            <a:spAutoFit/>
          </a:bodyPr>
          <a:lstStyle/>
          <a:p>
            <a:pPr>
              <a:spcAft>
                <a:spcPts val="800"/>
              </a:spcAft>
              <a:defRPr sz="1100" b="1">
                <a:solidFill>
                  <a:srgbClr val="EA580C"/>
                </a:solidFill>
                <a:latin typeface="Segoe UI"/>
              </a:defRPr>
            </a:pPr>
            <a:r>
              <a:t>THE RETRIEVAL BREAKDOWN</a:t>
            </a:r>
          </a:p>
          <a:p>
            <a:pPr>
              <a:spcAft>
                <a:spcPts val="1200"/>
              </a:spcAft>
              <a:defRPr sz="1800" b="1">
                <a:solidFill>
                  <a:srgbClr val="0F172A"/>
                </a:solidFill>
                <a:latin typeface="Segoe UI"/>
              </a:defRPr>
            </a:pPr>
            <a:r>
              <a:t>“I remember the moment vividly, but I don't know what words to search.”</a:t>
            </a:r>
          </a:p>
          <a:p>
            <a:pPr>
              <a:spcAft>
                <a:spcPts val="1000"/>
              </a:spcAft>
              <a:defRPr sz="1400">
                <a:solidFill>
                  <a:srgbClr val="475569"/>
                </a:solidFill>
                <a:latin typeface="Segoe UI"/>
              </a:defRPr>
            </a:pPr>
            <a:r>
              <a:t>Personal photo libraries grow into tens of thousands of items over years. When users want to find a specific past moment, human memory recalls episodic context — people present, general locations, approximate seasons, and emotional atmosphere.</a:t>
            </a:r>
          </a:p>
          <a:p>
            <a:pPr>
              <a:spcAft>
                <a:spcPts val="1600"/>
              </a:spcAft>
              <a:defRPr sz="1400">
                <a:solidFill>
                  <a:srgbClr val="475569"/>
                </a:solidFill>
                <a:latin typeface="Segoe UI"/>
              </a:defRPr>
            </a:pPr>
            <a:r>
              <a:t>However, conventional search interfaces rely heavily on exact dates or isolated keywords. When vague searches fail, users fall back to manual timeline scrubbing or abandon the retrieval task entirely.</a:t>
            </a:r>
          </a:p>
        </p:txBody>
      </p:sp>
      <p:sp>
        <p:nvSpPr>
          <p:cNvPr id="6" name="Rounded Rectangle 5"/>
          <p:cNvSpPr/>
          <p:nvPr/>
        </p:nvSpPr>
        <p:spPr>
          <a:xfrm>
            <a:off x="1005840" y="4480560"/>
            <a:ext cx="5669280" cy="1691640"/>
          </a:xfrm>
          <a:prstGeom prst="roundRect">
            <a:avLst/>
          </a:prstGeom>
          <a:solidFill>
            <a:srgbClr val="E8F0FE"/>
          </a:solidFill>
          <a:ln w="12700">
            <a:solidFill>
              <a:srgbClr val="C2D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617720"/>
            <a:ext cx="5303520" cy="1417320"/>
          </a:xfrm>
          <a:prstGeom prst="rect">
            <a:avLst/>
          </a:prstGeom>
          <a:noFill/>
        </p:spPr>
        <p:txBody>
          <a:bodyPr wrap="square" lIns="0" tIns="0" rIns="0" bIns="0">
            <a:spAutoFit/>
          </a:bodyPr>
          <a:lstStyle/>
          <a:p>
            <a:pPr>
              <a:spcAft>
                <a:spcPts val="400"/>
              </a:spcAft>
              <a:defRPr sz="1100" b="1">
                <a:solidFill>
                  <a:srgbClr val="1A73E8"/>
                </a:solidFill>
                <a:latin typeface="Segoe UI"/>
              </a:defRPr>
            </a:pPr>
            <a:r>
              <a:t>CORE BUSINESS GOAL</a:t>
            </a:r>
          </a:p>
          <a:p>
            <a:pPr>
              <a:spcAft>
                <a:spcPts val="400"/>
              </a:spcAft>
              <a:defRPr sz="1500" b="1">
                <a:solidFill>
                  <a:srgbClr val="0F172A"/>
                </a:solidFill>
                <a:latin typeface="Segoe UI"/>
              </a:defRPr>
            </a:pPr>
            <a:r>
              <a:t>Increase the percentage of users who successfully retrieve a photo they remember but cannot precisely describe.</a:t>
            </a:r>
          </a:p>
          <a:p>
            <a:pPr>
              <a:defRPr sz="1200">
                <a:solidFill>
                  <a:srgbClr val="475569"/>
                </a:solidFill>
                <a:latin typeface="Segoe UI"/>
              </a:defRPr>
            </a:pPr>
            <a:r>
              <a:t>Domain: Google Photos Core Retrieval Experience | Product Discovery &amp; Validation</a:t>
            </a:r>
          </a:p>
        </p:txBody>
      </p:sp>
      <p:sp>
        <p:nvSpPr>
          <p:cNvPr id="8" name="Rounded Rectangle 7"/>
          <p:cNvSpPr/>
          <p:nvPr/>
        </p:nvSpPr>
        <p:spPr>
          <a:xfrm>
            <a:off x="7132320" y="1691640"/>
            <a:ext cx="4327855"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874519"/>
            <a:ext cx="3779215" cy="914400"/>
          </a:xfrm>
          <a:prstGeom prst="rect">
            <a:avLst/>
          </a:prstGeom>
          <a:noFill/>
        </p:spPr>
        <p:txBody>
          <a:bodyPr wrap="square" lIns="0" tIns="0" rIns="0" bIns="0">
            <a:spAutoFit/>
          </a:bodyPr>
          <a:lstStyle/>
          <a:p>
            <a:pPr>
              <a:spcAft>
                <a:spcPts val="400"/>
              </a:spcAft>
              <a:defRPr sz="1100" b="1">
                <a:solidFill>
                  <a:srgbClr val="0D9488"/>
                </a:solidFill>
                <a:latin typeface="Segoe UI"/>
              </a:defRPr>
            </a:pPr>
            <a:r>
              <a:t>THE COGNITIVE GAP</a:t>
            </a:r>
          </a:p>
          <a:p>
            <a:pPr>
              <a:defRPr sz="1700" b="1">
                <a:solidFill>
                  <a:srgbClr val="0F172A"/>
                </a:solidFill>
                <a:latin typeface="Segoe UI"/>
              </a:defRPr>
            </a:pPr>
            <a:r>
              <a:t>Human Memory vs. Conventional Search</a:t>
            </a:r>
          </a:p>
        </p:txBody>
      </p:sp>
      <p:sp>
        <p:nvSpPr>
          <p:cNvPr id="10" name="Rounded Rectangle 9"/>
          <p:cNvSpPr/>
          <p:nvPr/>
        </p:nvSpPr>
        <p:spPr>
          <a:xfrm>
            <a:off x="7406640" y="2697480"/>
            <a:ext cx="3779215" cy="1463040"/>
          </a:xfrm>
          <a:prstGeom prst="roundRect">
            <a:avLst/>
          </a:prstGeom>
          <a:solidFill>
            <a:srgbClr val="CCFBF1"/>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0" y="2788920"/>
            <a:ext cx="3504895" cy="1280160"/>
          </a:xfrm>
          <a:prstGeom prst="rect">
            <a:avLst/>
          </a:prstGeom>
          <a:noFill/>
        </p:spPr>
        <p:txBody>
          <a:bodyPr wrap="square" lIns="0" tIns="0" rIns="0" bIns="0">
            <a:spAutoFit/>
          </a:bodyPr>
          <a:lstStyle/>
          <a:p>
            <a:pPr>
              <a:spcAft>
                <a:spcPts val="400"/>
              </a:spcAft>
              <a:defRPr sz="1000" b="1">
                <a:solidFill>
                  <a:srgbClr val="0D9488"/>
                </a:solidFill>
                <a:latin typeface="Segoe UI"/>
              </a:defRPr>
            </a:pPr>
            <a:r>
              <a:t>HUMAN EPISODIC MEMORY (MULTI-CUE)</a:t>
            </a:r>
          </a:p>
          <a:p>
            <a:pPr>
              <a:defRPr sz="1100">
                <a:solidFill>
                  <a:srgbClr val="0F172A"/>
                </a:solidFill>
                <a:latin typeface="Segoe UI"/>
              </a:defRPr>
            </a:pPr>
            <a:r>
              <a:t>• Companion: Rohan (Friend)</a:t>
            </a:r>
          </a:p>
          <a:p>
            <a:pPr>
              <a:defRPr sz="1100">
                <a:solidFill>
                  <a:srgbClr val="0F172A"/>
                </a:solidFill>
                <a:latin typeface="Segoe UI"/>
              </a:defRPr>
            </a:pPr>
            <a:r>
              <a:t>• Setting: Anjuna Beach, Goa at sunset</a:t>
            </a:r>
          </a:p>
          <a:p>
            <a:pPr>
              <a:defRPr sz="1100">
                <a:solidFill>
                  <a:srgbClr val="0F172A"/>
                </a:solidFill>
                <a:latin typeface="Segoe UI"/>
              </a:defRPr>
            </a:pPr>
            <a:r>
              <a:t>• Fuzzy Time: ~2-3 years ago (College trip)</a:t>
            </a:r>
          </a:p>
          <a:p>
            <a:pPr>
              <a:defRPr sz="1100">
                <a:solidFill>
                  <a:srgbClr val="0F172A"/>
                </a:solidFill>
                <a:latin typeface="Segoe UI"/>
              </a:defRPr>
            </a:pPr>
            <a:r>
              <a:t>• Visual Cue: Ocean waves, golden sky, drinks</a:t>
            </a:r>
          </a:p>
        </p:txBody>
      </p:sp>
      <p:sp>
        <p:nvSpPr>
          <p:cNvPr id="12" name="TextBox 11"/>
          <p:cNvSpPr txBox="1"/>
          <p:nvPr/>
        </p:nvSpPr>
        <p:spPr>
          <a:xfrm>
            <a:off x="7406640" y="4224528"/>
            <a:ext cx="3779215" cy="256032"/>
          </a:xfrm>
          <a:prstGeom prst="rect">
            <a:avLst/>
          </a:prstGeom>
          <a:noFill/>
        </p:spPr>
        <p:txBody>
          <a:bodyPr wrap="none" lIns="0" tIns="0">
            <a:spAutoFit/>
          </a:bodyPr>
          <a:lstStyle/>
          <a:p>
            <a:pPr algn="ctr">
              <a:defRPr sz="950" b="1">
                <a:solidFill>
                  <a:srgbClr val="EA580C"/>
                </a:solidFill>
                <a:latin typeface="Segoe UI"/>
              </a:defRPr>
            </a:pPr>
            <a:r>
              <a:t>▼  COLLIDES WITH  ▼</a:t>
            </a:r>
          </a:p>
        </p:txBody>
      </p:sp>
      <p:sp>
        <p:nvSpPr>
          <p:cNvPr id="13" name="Rounded Rectangle 12"/>
          <p:cNvSpPr/>
          <p:nvPr/>
        </p:nvSpPr>
        <p:spPr>
          <a:xfrm>
            <a:off x="7406640" y="4526280"/>
            <a:ext cx="3779215" cy="1691640"/>
          </a:xfrm>
          <a:prstGeom prst="roundRect">
            <a:avLst/>
          </a:prstGeom>
          <a:solidFill>
            <a:srgbClr val="FFEDD5"/>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0" y="4617720"/>
            <a:ext cx="3504895" cy="1508760"/>
          </a:xfrm>
          <a:prstGeom prst="rect">
            <a:avLst/>
          </a:prstGeom>
          <a:noFill/>
        </p:spPr>
        <p:txBody>
          <a:bodyPr wrap="square" lIns="0" tIns="0" rIns="0" bIns="0">
            <a:spAutoFit/>
          </a:bodyPr>
          <a:lstStyle/>
          <a:p>
            <a:pPr>
              <a:spcAft>
                <a:spcPts val="400"/>
              </a:spcAft>
              <a:defRPr sz="1000" b="1">
                <a:solidFill>
                  <a:srgbClr val="EA580C"/>
                </a:solidFill>
                <a:latin typeface="Segoe UI"/>
              </a:defRPr>
            </a:pPr>
            <a:r>
              <a:t>CONVENTIONAL SEARCH FRICTION</a:t>
            </a:r>
          </a:p>
          <a:p>
            <a:pPr>
              <a:defRPr sz="1100">
                <a:solidFill>
                  <a:srgbClr val="0F172A"/>
                </a:solidFill>
                <a:latin typeface="Segoe UI"/>
              </a:defRPr>
            </a:pPr>
            <a:r>
              <a:t>• Rigid Exact Match: Requires date or single keyword</a:t>
            </a:r>
          </a:p>
          <a:p>
            <a:pPr>
              <a:defRPr sz="1100">
                <a:solidFill>
                  <a:srgbClr val="0F172A"/>
                </a:solidFill>
                <a:latin typeface="Segoe UI"/>
              </a:defRPr>
            </a:pPr>
            <a:r>
              <a:t>• Trial-and-Error: Modifying query resets context</a:t>
            </a:r>
          </a:p>
          <a:p>
            <a:pPr>
              <a:defRPr sz="1100">
                <a:solidFill>
                  <a:srgbClr val="0F172A"/>
                </a:solidFill>
                <a:latin typeface="Segoe UI"/>
              </a:defRPr>
            </a:pPr>
            <a:r>
              <a:t>• Workaround Fallback: 65% scroll timeline endlessly</a:t>
            </a:r>
          </a:p>
          <a:p>
            <a:pPr>
              <a:defRPr sz="1100">
                <a:solidFill>
                  <a:srgbClr val="0F172A"/>
                </a:solidFill>
                <a:latin typeface="Segoe UI"/>
              </a:defRPr>
            </a:pPr>
            <a:r>
              <a:t>• High Drop-off: 70.6% abandon search sessions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1A73E8"/>
                </a:solidFill>
                <a:latin typeface="Segoe UI"/>
              </a:defRPr>
            </a:pPr>
            <a:r>
              <a:t>PART 2 · METRIC DECOMPOSITION &amp; FUNNEL ANALYSIS</a:t>
            </a:r>
          </a:p>
          <a:p>
            <a:pPr>
              <a:defRPr sz="2500" b="1">
                <a:solidFill>
                  <a:srgbClr val="0F172A"/>
                </a:solidFill>
                <a:latin typeface="Segoe UI"/>
              </a:defRPr>
            </a:pPr>
            <a:r>
              <a:t>Successful Retrieval is a Six-Stage Journey, Not a Single Search</a:t>
            </a:r>
          </a:p>
          <a:p>
            <a:pPr>
              <a:spcBef>
                <a:spcPts val="300"/>
              </a:spcBef>
              <a:defRPr sz="1300">
                <a:solidFill>
                  <a:srgbClr val="475569"/>
                </a:solidFill>
                <a:latin typeface="Segoe UI"/>
              </a:defRPr>
            </a:pPr>
            <a:r>
              <a:t>Deconstructing vague-memory photo retrieval reveals that success depends on iterative cue translation</a:t>
            </a:r>
          </a:p>
        </p:txBody>
      </p:sp>
      <p:sp>
        <p:nvSpPr>
          <p:cNvPr id="4" name="Rounded Rectangle 3"/>
          <p:cNvSpPr/>
          <p:nvPr/>
        </p:nvSpPr>
        <p:spPr>
          <a:xfrm>
            <a:off x="731520" y="1691640"/>
            <a:ext cx="169164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83080"/>
            <a:ext cx="1472184" cy="2743200"/>
          </a:xfrm>
          <a:prstGeom prst="rect">
            <a:avLst/>
          </a:prstGeom>
          <a:noFill/>
        </p:spPr>
        <p:txBody>
          <a:bodyPr wrap="square" lIns="0" tIns="0" rIns="0" bIns="0">
            <a:spAutoFit/>
          </a:bodyPr>
          <a:lstStyle/>
          <a:p>
            <a:pPr>
              <a:spcAft>
                <a:spcPts val="400"/>
              </a:spcAft>
              <a:defRPr sz="900" b="1">
                <a:solidFill>
                  <a:srgbClr val="1A73E8"/>
                </a:solidFill>
                <a:latin typeface="Segoe UI"/>
              </a:defRPr>
            </a:pPr>
            <a:r>
              <a:t>STAGE 01  ·  P(E₁)</a:t>
            </a:r>
          </a:p>
          <a:p>
            <a:pPr>
              <a:spcAft>
                <a:spcPts val="800"/>
              </a:spcAft>
              <a:defRPr sz="1400" b="1">
                <a:solidFill>
                  <a:srgbClr val="0F172A"/>
                </a:solidFill>
                <a:latin typeface="Segoe UI"/>
              </a:defRPr>
            </a:pPr>
            <a:r>
              <a:t>Memory</a:t>
            </a:r>
            <a:br/>
            <a:r>
              <a:t>Formulation</a:t>
            </a:r>
          </a:p>
          <a:p>
            <a:pPr>
              <a:spcAft>
                <a:spcPts val="1000"/>
              </a:spcAft>
              <a:defRPr sz="1100">
                <a:solidFill>
                  <a:srgbClr val="475569"/>
                </a:solidFill>
                <a:latin typeface="Segoe UI"/>
              </a:defRPr>
            </a:pPr>
            <a:r>
              <a:t>User recalls fuzzy episodic fragments (person, place, vibe)</a:t>
            </a:r>
          </a:p>
          <a:p>
            <a:pPr>
              <a:defRPr sz="1000" b="1">
                <a:solidFill>
                  <a:srgbClr val="0F172A"/>
                </a:solidFill>
                <a:latin typeface="Segoe UI"/>
              </a:defRPr>
            </a:pPr>
            <a:r>
              <a:t>Observed Signal:</a:t>
            </a:r>
            <a:br/>
            <a:r>
              <a:t>94.1% no exact date</a:t>
            </a:r>
          </a:p>
        </p:txBody>
      </p:sp>
      <p:sp>
        <p:nvSpPr>
          <p:cNvPr id="6" name="Rounded Rectangle 5"/>
          <p:cNvSpPr/>
          <p:nvPr/>
        </p:nvSpPr>
        <p:spPr>
          <a:xfrm>
            <a:off x="2532888" y="1691640"/>
            <a:ext cx="1691640" cy="2926080"/>
          </a:xfrm>
          <a:prstGeom prst="roundRect">
            <a:avLst/>
          </a:prstGeom>
          <a:solidFill>
            <a:srgbClr val="FFEDD5"/>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42616" y="1783080"/>
            <a:ext cx="1472184" cy="2743200"/>
          </a:xfrm>
          <a:prstGeom prst="rect">
            <a:avLst/>
          </a:prstGeom>
          <a:noFill/>
        </p:spPr>
        <p:txBody>
          <a:bodyPr wrap="square" lIns="0" tIns="0" rIns="0" bIns="0">
            <a:spAutoFit/>
          </a:bodyPr>
          <a:lstStyle/>
          <a:p>
            <a:pPr>
              <a:spcAft>
                <a:spcPts val="400"/>
              </a:spcAft>
              <a:defRPr sz="900" b="1">
                <a:solidFill>
                  <a:srgbClr val="EA580C"/>
                </a:solidFill>
                <a:latin typeface="Segoe UI"/>
              </a:defRPr>
            </a:pPr>
            <a:r>
              <a:t>STAGE 02  ·  P(E₂)</a:t>
            </a:r>
          </a:p>
          <a:p>
            <a:pPr>
              <a:spcAft>
                <a:spcPts val="800"/>
              </a:spcAft>
              <a:defRPr sz="1400" b="1">
                <a:solidFill>
                  <a:srgbClr val="0F172A"/>
                </a:solidFill>
                <a:latin typeface="Segoe UI"/>
              </a:defRPr>
            </a:pPr>
            <a:r>
              <a:t>Candidate</a:t>
            </a:r>
            <a:br/>
            <a:r>
              <a:t>Generation</a:t>
            </a:r>
          </a:p>
          <a:p>
            <a:pPr>
              <a:spcAft>
                <a:spcPts val="1000"/>
              </a:spcAft>
              <a:defRPr sz="1100">
                <a:solidFill>
                  <a:srgbClr val="475569"/>
                </a:solidFill>
                <a:latin typeface="Segoe UI"/>
              </a:defRPr>
            </a:pPr>
            <a:r>
              <a:t>Translates memory into initial search query</a:t>
            </a:r>
          </a:p>
          <a:p>
            <a:pPr>
              <a:defRPr sz="1000" b="1">
                <a:solidFill>
                  <a:srgbClr val="0F172A"/>
                </a:solidFill>
                <a:latin typeface="Segoe UI"/>
              </a:defRPr>
            </a:pPr>
            <a:r>
              <a:t>Observed Signal:</a:t>
            </a:r>
            <a:br/>
            <a:r>
              <a:t>86.1% relevance failure</a:t>
            </a:r>
          </a:p>
        </p:txBody>
      </p:sp>
      <p:sp>
        <p:nvSpPr>
          <p:cNvPr id="8" name="Rounded Rectangle 7"/>
          <p:cNvSpPr/>
          <p:nvPr/>
        </p:nvSpPr>
        <p:spPr>
          <a:xfrm>
            <a:off x="4334256" y="1691640"/>
            <a:ext cx="169164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43984" y="1783080"/>
            <a:ext cx="1472184" cy="2743200"/>
          </a:xfrm>
          <a:prstGeom prst="rect">
            <a:avLst/>
          </a:prstGeom>
          <a:noFill/>
        </p:spPr>
        <p:txBody>
          <a:bodyPr wrap="square" lIns="0" tIns="0" rIns="0" bIns="0">
            <a:spAutoFit/>
          </a:bodyPr>
          <a:lstStyle/>
          <a:p>
            <a:pPr>
              <a:spcAft>
                <a:spcPts val="400"/>
              </a:spcAft>
              <a:defRPr sz="900" b="1">
                <a:solidFill>
                  <a:srgbClr val="1A73E8"/>
                </a:solidFill>
                <a:latin typeface="Segoe UI"/>
              </a:defRPr>
            </a:pPr>
            <a:r>
              <a:t>STAGE 03  ·  P(E₃)</a:t>
            </a:r>
          </a:p>
          <a:p>
            <a:pPr>
              <a:spcAft>
                <a:spcPts val="800"/>
              </a:spcAft>
              <a:defRPr sz="1400" b="1">
                <a:solidFill>
                  <a:srgbClr val="0F172A"/>
                </a:solidFill>
                <a:latin typeface="Segoe UI"/>
              </a:defRPr>
            </a:pPr>
            <a:r>
              <a:t>Visual</a:t>
            </a:r>
            <a:br/>
            <a:r>
              <a:t>Inspection</a:t>
            </a:r>
          </a:p>
          <a:p>
            <a:pPr>
              <a:spcAft>
                <a:spcPts val="1000"/>
              </a:spcAft>
              <a:defRPr sz="1100">
                <a:solidFill>
                  <a:srgbClr val="475569"/>
                </a:solidFill>
                <a:latin typeface="Segoe UI"/>
              </a:defRPr>
            </a:pPr>
            <a:r>
              <a:t>Scans image grid to evaluate top candidate matches</a:t>
            </a:r>
          </a:p>
          <a:p>
            <a:pPr>
              <a:defRPr sz="1000" b="1">
                <a:solidFill>
                  <a:srgbClr val="0F172A"/>
                </a:solidFill>
                <a:latin typeface="Segoe UI"/>
              </a:defRPr>
            </a:pPr>
            <a:r>
              <a:t>Observed Signal:</a:t>
            </a:r>
            <a:br/>
            <a:r>
              <a:t>3+ searches required</a:t>
            </a:r>
          </a:p>
        </p:txBody>
      </p:sp>
      <p:sp>
        <p:nvSpPr>
          <p:cNvPr id="10" name="Rounded Rectangle 9"/>
          <p:cNvSpPr/>
          <p:nvPr/>
        </p:nvSpPr>
        <p:spPr>
          <a:xfrm>
            <a:off x="6135624" y="1691640"/>
            <a:ext cx="1691640" cy="2926080"/>
          </a:xfrm>
          <a:prstGeom prst="roundRect">
            <a:avLst/>
          </a:prstGeom>
          <a:solidFill>
            <a:srgbClr val="FFEDD5"/>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5352" y="1783080"/>
            <a:ext cx="1472184" cy="2743200"/>
          </a:xfrm>
          <a:prstGeom prst="rect">
            <a:avLst/>
          </a:prstGeom>
          <a:noFill/>
        </p:spPr>
        <p:txBody>
          <a:bodyPr wrap="square" lIns="0" tIns="0" rIns="0" bIns="0">
            <a:spAutoFit/>
          </a:bodyPr>
          <a:lstStyle/>
          <a:p>
            <a:pPr>
              <a:spcAft>
                <a:spcPts val="400"/>
              </a:spcAft>
              <a:defRPr sz="900" b="1">
                <a:solidFill>
                  <a:srgbClr val="EA580C"/>
                </a:solidFill>
                <a:latin typeface="Segoe UI"/>
              </a:defRPr>
            </a:pPr>
            <a:r>
              <a:t>STAGE 04  ·  P(E₄)</a:t>
            </a:r>
          </a:p>
          <a:p>
            <a:pPr>
              <a:spcAft>
                <a:spcPts val="800"/>
              </a:spcAft>
              <a:defRPr sz="1400" b="1">
                <a:solidFill>
                  <a:srgbClr val="0F172A"/>
                </a:solidFill>
                <a:latin typeface="Segoe UI"/>
              </a:defRPr>
            </a:pPr>
            <a:r>
              <a:t>Secondary</a:t>
            </a:r>
            <a:br/>
            <a:r>
              <a:t>Refinement</a:t>
            </a:r>
          </a:p>
          <a:p>
            <a:pPr>
              <a:spcAft>
                <a:spcPts val="1000"/>
              </a:spcAft>
              <a:defRPr sz="1100">
                <a:solidFill>
                  <a:srgbClr val="475569"/>
                </a:solidFill>
                <a:latin typeface="Segoe UI"/>
              </a:defRPr>
            </a:pPr>
            <a:r>
              <a:t>Adds or adjusts cues to narrow down results</a:t>
            </a:r>
          </a:p>
          <a:p>
            <a:pPr>
              <a:defRPr sz="1000" b="1">
                <a:solidFill>
                  <a:srgbClr val="0F172A"/>
                </a:solidFill>
                <a:latin typeface="Segoe UI"/>
              </a:defRPr>
            </a:pPr>
            <a:r>
              <a:t>Observed Signal:</a:t>
            </a:r>
            <a:br/>
            <a:r>
              <a:t>84.7% refinement issue</a:t>
            </a:r>
          </a:p>
        </p:txBody>
      </p:sp>
      <p:sp>
        <p:nvSpPr>
          <p:cNvPr id="12" name="Rounded Rectangle 11"/>
          <p:cNvSpPr/>
          <p:nvPr/>
        </p:nvSpPr>
        <p:spPr>
          <a:xfrm>
            <a:off x="7936992" y="1691640"/>
            <a:ext cx="169164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783080"/>
            <a:ext cx="1472184" cy="2743200"/>
          </a:xfrm>
          <a:prstGeom prst="rect">
            <a:avLst/>
          </a:prstGeom>
          <a:noFill/>
        </p:spPr>
        <p:txBody>
          <a:bodyPr wrap="square" lIns="0" tIns="0" rIns="0" bIns="0">
            <a:spAutoFit/>
          </a:bodyPr>
          <a:lstStyle/>
          <a:p>
            <a:pPr>
              <a:spcAft>
                <a:spcPts val="400"/>
              </a:spcAft>
              <a:defRPr sz="900" b="1">
                <a:solidFill>
                  <a:srgbClr val="1A73E8"/>
                </a:solidFill>
                <a:latin typeface="Segoe UI"/>
              </a:defRPr>
            </a:pPr>
            <a:r>
              <a:t>STAGE 05  ·  P(E₅)</a:t>
            </a:r>
          </a:p>
          <a:p>
            <a:pPr>
              <a:spcAft>
                <a:spcPts val="800"/>
              </a:spcAft>
              <a:defRPr sz="1400" b="1">
                <a:solidFill>
                  <a:srgbClr val="0F172A"/>
                </a:solidFill>
                <a:latin typeface="Segoe UI"/>
              </a:defRPr>
            </a:pPr>
            <a:r>
              <a:t>Workaround</a:t>
            </a:r>
            <a:br/>
            <a:r>
              <a:t>Fallback</a:t>
            </a:r>
          </a:p>
          <a:p>
            <a:pPr>
              <a:spcAft>
                <a:spcPts val="1000"/>
              </a:spcAft>
              <a:defRPr sz="1100">
                <a:solidFill>
                  <a:srgbClr val="475569"/>
                </a:solidFill>
                <a:latin typeface="Segoe UI"/>
              </a:defRPr>
            </a:pPr>
            <a:r>
              <a:t>Resorts to manual scrubbing or external apps</a:t>
            </a:r>
          </a:p>
          <a:p>
            <a:pPr>
              <a:defRPr sz="1000" b="1">
                <a:solidFill>
                  <a:srgbClr val="0F172A"/>
                </a:solidFill>
                <a:latin typeface="Segoe UI"/>
              </a:defRPr>
            </a:pPr>
            <a:r>
              <a:t>Observed Signal:</a:t>
            </a:r>
            <a:br/>
            <a:r>
              <a:t>65.3% scrub timeline</a:t>
            </a:r>
          </a:p>
        </p:txBody>
      </p:sp>
      <p:sp>
        <p:nvSpPr>
          <p:cNvPr id="14" name="Rounded Rectangle 13"/>
          <p:cNvSpPr/>
          <p:nvPr/>
        </p:nvSpPr>
        <p:spPr>
          <a:xfrm>
            <a:off x="9738360" y="1691640"/>
            <a:ext cx="1691640" cy="2926080"/>
          </a:xfrm>
          <a:prstGeom prst="roundRect">
            <a:avLst/>
          </a:prstGeom>
          <a:solidFill>
            <a:srgbClr val="E8F0FE"/>
          </a:solidFill>
          <a:ln w="12700">
            <a:solidFill>
              <a:srgbClr val="C2D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48088" y="1783080"/>
            <a:ext cx="1472184" cy="2743200"/>
          </a:xfrm>
          <a:prstGeom prst="rect">
            <a:avLst/>
          </a:prstGeom>
          <a:noFill/>
        </p:spPr>
        <p:txBody>
          <a:bodyPr wrap="square" lIns="0" tIns="0" rIns="0" bIns="0">
            <a:spAutoFit/>
          </a:bodyPr>
          <a:lstStyle/>
          <a:p>
            <a:pPr>
              <a:spcAft>
                <a:spcPts val="400"/>
              </a:spcAft>
              <a:defRPr sz="900" b="1">
                <a:solidFill>
                  <a:srgbClr val="1A73E8"/>
                </a:solidFill>
                <a:latin typeface="Segoe UI"/>
              </a:defRPr>
            </a:pPr>
            <a:r>
              <a:t>STAGE 06  ·  P(E₆)</a:t>
            </a:r>
          </a:p>
          <a:p>
            <a:pPr>
              <a:spcAft>
                <a:spcPts val="800"/>
              </a:spcAft>
              <a:defRPr sz="1400" b="1">
                <a:solidFill>
                  <a:srgbClr val="0F172A"/>
                </a:solidFill>
                <a:latin typeface="Segoe UI"/>
              </a:defRPr>
            </a:pPr>
            <a:r>
              <a:t>Goal</a:t>
            </a:r>
            <a:br/>
            <a:r>
              <a:t>Completion</a:t>
            </a:r>
          </a:p>
          <a:p>
            <a:pPr>
              <a:spcAft>
                <a:spcPts val="1000"/>
              </a:spcAft>
              <a:defRPr sz="1100">
                <a:solidFill>
                  <a:srgbClr val="475569"/>
                </a:solidFill>
                <a:latin typeface="Segoe UI"/>
              </a:defRPr>
            </a:pPr>
            <a:r>
              <a:t>Locates and confirms the intended photo</a:t>
            </a:r>
          </a:p>
          <a:p>
            <a:pPr>
              <a:defRPr sz="1000" b="1">
                <a:solidFill>
                  <a:srgbClr val="0F172A"/>
                </a:solidFill>
                <a:latin typeface="Segoe UI"/>
              </a:defRPr>
            </a:pPr>
            <a:r>
              <a:t>Observed Signal:</a:t>
            </a:r>
            <a:br/>
            <a:r>
              <a:t>69.4% failed retrieval</a:t>
            </a:r>
          </a:p>
        </p:txBody>
      </p:sp>
      <p:sp>
        <p:nvSpPr>
          <p:cNvPr id="16" name="Rounded Rectangle 15"/>
          <p:cNvSpPr/>
          <p:nvPr/>
        </p:nvSpPr>
        <p:spPr>
          <a:xfrm>
            <a:off x="731520" y="4754880"/>
            <a:ext cx="621792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92040"/>
            <a:ext cx="5852160" cy="1371600"/>
          </a:xfrm>
          <a:prstGeom prst="rect">
            <a:avLst/>
          </a:prstGeom>
          <a:noFill/>
        </p:spPr>
        <p:txBody>
          <a:bodyPr wrap="square" lIns="0" tIns="0" rIns="0" bIns="0">
            <a:spAutoFit/>
          </a:bodyPr>
          <a:lstStyle/>
          <a:p>
            <a:pPr>
              <a:spcAft>
                <a:spcPts val="600"/>
              </a:spcAft>
              <a:defRPr sz="1100" b="1">
                <a:solidFill>
                  <a:srgbClr val="EA580C"/>
                </a:solidFill>
                <a:latin typeface="Segoe UI"/>
              </a:defRPr>
            </a:pPr>
            <a:r>
              <a:t>EVIDENCE FROM 72 RETRIEVAL-FRICTION RECORDS</a:t>
            </a:r>
          </a:p>
          <a:p>
            <a:pPr>
              <a:defRPr sz="1200">
                <a:solidFill>
                  <a:srgbClr val="0F172A"/>
                </a:solidFill>
                <a:latin typeface="Segoe UI"/>
              </a:defRPr>
            </a:pPr>
            <a:r>
              <a:t>• 86.1% experienced candidate relevance failure during initial searches (Stage 2/3)</a:t>
            </a:r>
            <a:br/>
            <a:r>
              <a:t>• 84.7% encountered search refinement breakdown when trying to iterate (Stage 4)</a:t>
            </a:r>
            <a:br/>
            <a:r>
              <a:t>• 65.3% abandoned search to scrub timeline manually; 34.7% searched chat apps (Stage 5)</a:t>
            </a:r>
          </a:p>
        </p:txBody>
      </p:sp>
      <p:sp>
        <p:nvSpPr>
          <p:cNvPr id="18" name="Rounded Rectangle 17"/>
          <p:cNvSpPr/>
          <p:nvPr/>
        </p:nvSpPr>
        <p:spPr>
          <a:xfrm>
            <a:off x="7132320" y="4754880"/>
            <a:ext cx="4327855" cy="1645920"/>
          </a:xfrm>
          <a:prstGeom prst="roundRect">
            <a:avLst/>
          </a:prstGeom>
          <a:solidFill>
            <a:srgbClr val="CCFBF1"/>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4892040"/>
            <a:ext cx="3962095" cy="1371600"/>
          </a:xfrm>
          <a:prstGeom prst="rect">
            <a:avLst/>
          </a:prstGeom>
          <a:noFill/>
        </p:spPr>
        <p:txBody>
          <a:bodyPr wrap="square" lIns="0" tIns="0" rIns="0" bIns="0">
            <a:spAutoFit/>
          </a:bodyPr>
          <a:lstStyle/>
          <a:p>
            <a:pPr>
              <a:spcAft>
                <a:spcPts val="400"/>
              </a:spcAft>
              <a:defRPr sz="1100" b="1">
                <a:solidFill>
                  <a:srgbClr val="0D9488"/>
                </a:solidFill>
                <a:latin typeface="Segoe UI"/>
              </a:defRPr>
            </a:pPr>
            <a:r>
              <a:t>CRITICAL PRODUCT INSIGHT</a:t>
            </a:r>
          </a:p>
          <a:p>
            <a:pPr>
              <a:spcAft>
                <a:spcPts val="400"/>
              </a:spcAft>
              <a:defRPr sz="1500" b="1">
                <a:solidFill>
                  <a:srgbClr val="0F172A"/>
                </a:solidFill>
                <a:latin typeface="Segoe UI"/>
              </a:defRPr>
            </a:pPr>
            <a:r>
              <a:t>Retrieval is a journey of signal translation, not a single query event.</a:t>
            </a:r>
          </a:p>
          <a:p>
            <a:pPr>
              <a:defRPr sz="1100">
                <a:solidFill>
                  <a:srgbClr val="475569"/>
                </a:solidFill>
                <a:latin typeface="Segoe UI"/>
              </a:defRPr>
            </a:pPr>
            <a:r>
              <a:t>If the system cannot help users translate fuzzy memory cues into structured retrieval filters and support additive refinement, the entire retrieval funnel collapses.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1A73E8"/>
                </a:solidFill>
                <a:latin typeface="Segoe UI"/>
              </a:defRPr>
            </a:pPr>
            <a:r>
              <a:t>PART 1 · AI DISCOVERY ENGINE METHODOLOGY &amp; PUBLIC EVIDENCE</a:t>
            </a:r>
          </a:p>
          <a:p>
            <a:pPr>
              <a:defRPr sz="2500" b="1">
                <a:solidFill>
                  <a:srgbClr val="0F172A"/>
                </a:solidFill>
                <a:latin typeface="Segoe UI"/>
              </a:defRPr>
            </a:pPr>
            <a:r>
              <a:t>Public Evidence Showed That Relevance and Refinement Are Where Retrieval Repeatedly Breaks</a:t>
            </a:r>
          </a:p>
          <a:p>
            <a:pPr>
              <a:spcBef>
                <a:spcPts val="300"/>
              </a:spcBef>
              <a:defRPr sz="1300">
                <a:solidFill>
                  <a:srgbClr val="475569"/>
                </a:solidFill>
                <a:latin typeface="Segoe UI"/>
              </a:defRPr>
            </a:pPr>
            <a:r>
              <a:t>Analyzing 74 authentic public records through an AI-powered discovery pipeline revealed recurring retrieval friction points</a:t>
            </a:r>
          </a:p>
        </p:txBody>
      </p:sp>
      <p:sp>
        <p:nvSpPr>
          <p:cNvPr id="4" name="Rounded Rectangle 3"/>
          <p:cNvSpPr/>
          <p:nvPr/>
        </p:nvSpPr>
        <p:spPr>
          <a:xfrm>
            <a:off x="731520" y="1691640"/>
            <a:ext cx="16916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83080"/>
            <a:ext cx="1472184" cy="1828800"/>
          </a:xfrm>
          <a:prstGeom prst="rect">
            <a:avLst/>
          </a:prstGeom>
          <a:noFill/>
        </p:spPr>
        <p:txBody>
          <a:bodyPr wrap="square" lIns="0" tIns="0" rIns="0" bIns="0">
            <a:spAutoFit/>
          </a:bodyPr>
          <a:lstStyle/>
          <a:p>
            <a:pPr>
              <a:spcAft>
                <a:spcPts val="400"/>
              </a:spcAft>
              <a:defRPr sz="1000" b="1">
                <a:solidFill>
                  <a:srgbClr val="1A73E8"/>
                </a:solidFill>
                <a:latin typeface="Segoe UI"/>
              </a:defRPr>
            </a:pPr>
            <a:r>
              <a:t>STEP 01</a:t>
            </a:r>
          </a:p>
          <a:p>
            <a:pPr>
              <a:spcAft>
                <a:spcPts val="600"/>
              </a:spcAft>
              <a:defRPr sz="1300" b="1">
                <a:solidFill>
                  <a:srgbClr val="0F172A"/>
                </a:solidFill>
                <a:latin typeface="Segoe UI"/>
              </a:defRPr>
            </a:pPr>
            <a:r>
              <a:t>Feedback</a:t>
            </a:r>
            <a:br/>
            <a:r>
              <a:t>Ingestion</a:t>
            </a:r>
          </a:p>
          <a:p>
            <a:pPr>
              <a:defRPr sz="1000">
                <a:solidFill>
                  <a:srgbClr val="475569"/>
                </a:solidFill>
                <a:latin typeface="Segoe UI"/>
              </a:defRPr>
            </a:pPr>
            <a:r>
              <a:t>74 authentic user posts (Reddit, Google Help, X)</a:t>
            </a:r>
          </a:p>
        </p:txBody>
      </p:sp>
      <p:sp>
        <p:nvSpPr>
          <p:cNvPr id="6" name="Rounded Rectangle 5"/>
          <p:cNvSpPr/>
          <p:nvPr/>
        </p:nvSpPr>
        <p:spPr>
          <a:xfrm>
            <a:off x="2532888" y="1691640"/>
            <a:ext cx="16916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42616" y="1783080"/>
            <a:ext cx="1472184" cy="1828800"/>
          </a:xfrm>
          <a:prstGeom prst="rect">
            <a:avLst/>
          </a:prstGeom>
          <a:noFill/>
        </p:spPr>
        <p:txBody>
          <a:bodyPr wrap="square" lIns="0" tIns="0" rIns="0" bIns="0">
            <a:spAutoFit/>
          </a:bodyPr>
          <a:lstStyle/>
          <a:p>
            <a:pPr>
              <a:spcAft>
                <a:spcPts val="400"/>
              </a:spcAft>
              <a:defRPr sz="1000" b="1">
                <a:solidFill>
                  <a:srgbClr val="1A73E8"/>
                </a:solidFill>
                <a:latin typeface="Segoe UI"/>
              </a:defRPr>
            </a:pPr>
            <a:r>
              <a:t>STEP 02</a:t>
            </a:r>
          </a:p>
          <a:p>
            <a:pPr>
              <a:spcAft>
                <a:spcPts val="600"/>
              </a:spcAft>
              <a:defRPr sz="1300" b="1">
                <a:solidFill>
                  <a:srgbClr val="0F172A"/>
                </a:solidFill>
                <a:latin typeface="Segoe UI"/>
              </a:defRPr>
            </a:pPr>
            <a:r>
              <a:t>AI Semantic</a:t>
            </a:r>
            <a:br/>
            <a:r>
              <a:t>Classification</a:t>
            </a:r>
          </a:p>
          <a:p>
            <a:pPr>
              <a:defRPr sz="1000">
                <a:solidFill>
                  <a:srgbClr val="475569"/>
                </a:solidFill>
                <a:latin typeface="Segoe UI"/>
              </a:defRPr>
            </a:pPr>
            <a:r>
              <a:t>Zero-shot intent, stage &amp; emotion tagging</a:t>
            </a:r>
          </a:p>
        </p:txBody>
      </p:sp>
      <p:sp>
        <p:nvSpPr>
          <p:cNvPr id="8" name="Rounded Rectangle 7"/>
          <p:cNvSpPr/>
          <p:nvPr/>
        </p:nvSpPr>
        <p:spPr>
          <a:xfrm>
            <a:off x="4334256" y="1691640"/>
            <a:ext cx="16916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43984" y="1783080"/>
            <a:ext cx="1472184" cy="1828800"/>
          </a:xfrm>
          <a:prstGeom prst="rect">
            <a:avLst/>
          </a:prstGeom>
          <a:noFill/>
        </p:spPr>
        <p:txBody>
          <a:bodyPr wrap="square" lIns="0" tIns="0" rIns="0" bIns="0">
            <a:spAutoFit/>
          </a:bodyPr>
          <a:lstStyle/>
          <a:p>
            <a:pPr>
              <a:spcAft>
                <a:spcPts val="400"/>
              </a:spcAft>
              <a:defRPr sz="1000" b="1">
                <a:solidFill>
                  <a:srgbClr val="EA580C"/>
                </a:solidFill>
                <a:latin typeface="Segoe UI"/>
              </a:defRPr>
            </a:pPr>
            <a:r>
              <a:t>STEP 03</a:t>
            </a:r>
          </a:p>
          <a:p>
            <a:pPr>
              <a:spcAft>
                <a:spcPts val="600"/>
              </a:spcAft>
              <a:defRPr sz="1300" b="1">
                <a:solidFill>
                  <a:srgbClr val="0F172A"/>
                </a:solidFill>
                <a:latin typeface="Segoe UI"/>
              </a:defRPr>
            </a:pPr>
            <a:r>
              <a:t>Behavioral</a:t>
            </a:r>
            <a:br/>
            <a:r>
              <a:t>Extraction</a:t>
            </a:r>
          </a:p>
          <a:p>
            <a:pPr>
              <a:defRPr sz="1000">
                <a:solidFill>
                  <a:srgbClr val="475569"/>
                </a:solidFill>
                <a:latin typeface="Segoe UI"/>
              </a:defRPr>
            </a:pPr>
            <a:r>
              <a:t>Identified workarounds (scrubbing, chat logs)</a:t>
            </a:r>
          </a:p>
        </p:txBody>
      </p:sp>
      <p:sp>
        <p:nvSpPr>
          <p:cNvPr id="10" name="Rounded Rectangle 9"/>
          <p:cNvSpPr/>
          <p:nvPr/>
        </p:nvSpPr>
        <p:spPr>
          <a:xfrm>
            <a:off x="6135624" y="1691640"/>
            <a:ext cx="16916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5352" y="1783080"/>
            <a:ext cx="1472184" cy="1828800"/>
          </a:xfrm>
          <a:prstGeom prst="rect">
            <a:avLst/>
          </a:prstGeom>
          <a:noFill/>
        </p:spPr>
        <p:txBody>
          <a:bodyPr wrap="square" lIns="0" tIns="0" rIns="0" bIns="0">
            <a:spAutoFit/>
          </a:bodyPr>
          <a:lstStyle/>
          <a:p>
            <a:pPr>
              <a:spcAft>
                <a:spcPts val="400"/>
              </a:spcAft>
              <a:defRPr sz="1000" b="1">
                <a:solidFill>
                  <a:srgbClr val="0D9488"/>
                </a:solidFill>
                <a:latin typeface="Segoe UI"/>
              </a:defRPr>
            </a:pPr>
            <a:r>
              <a:t>STEP 04</a:t>
            </a:r>
          </a:p>
          <a:p>
            <a:pPr>
              <a:spcAft>
                <a:spcPts val="600"/>
              </a:spcAft>
              <a:defRPr sz="1300" b="1">
                <a:solidFill>
                  <a:srgbClr val="0F172A"/>
                </a:solidFill>
                <a:latin typeface="Segoe UI"/>
              </a:defRPr>
            </a:pPr>
            <a:r>
              <a:t>HDBSCAN</a:t>
            </a:r>
            <a:br/>
            <a:r>
              <a:t>Clustering</a:t>
            </a:r>
          </a:p>
          <a:p>
            <a:pPr>
              <a:defRPr sz="1000">
                <a:solidFill>
                  <a:srgbClr val="475569"/>
                </a:solidFill>
                <a:latin typeface="Segoe UI"/>
              </a:defRPr>
            </a:pPr>
            <a:r>
              <a:t>High-dimensional embeddings → 17 clusters</a:t>
            </a:r>
          </a:p>
        </p:txBody>
      </p:sp>
      <p:sp>
        <p:nvSpPr>
          <p:cNvPr id="12" name="Rounded Rectangle 11"/>
          <p:cNvSpPr/>
          <p:nvPr/>
        </p:nvSpPr>
        <p:spPr>
          <a:xfrm>
            <a:off x="7936992" y="1691640"/>
            <a:ext cx="16916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783080"/>
            <a:ext cx="1472184" cy="1828800"/>
          </a:xfrm>
          <a:prstGeom prst="rect">
            <a:avLst/>
          </a:prstGeom>
          <a:noFill/>
        </p:spPr>
        <p:txBody>
          <a:bodyPr wrap="square" lIns="0" tIns="0" rIns="0" bIns="0">
            <a:spAutoFit/>
          </a:bodyPr>
          <a:lstStyle/>
          <a:p>
            <a:pPr>
              <a:spcAft>
                <a:spcPts val="400"/>
              </a:spcAft>
              <a:defRPr sz="1000" b="1">
                <a:solidFill>
                  <a:srgbClr val="0D9488"/>
                </a:solidFill>
                <a:latin typeface="Segoe UI"/>
              </a:defRPr>
            </a:pPr>
            <a:r>
              <a:t>STEP 05</a:t>
            </a:r>
          </a:p>
          <a:p>
            <a:pPr>
              <a:spcAft>
                <a:spcPts val="600"/>
              </a:spcAft>
              <a:defRPr sz="1300" b="1">
                <a:solidFill>
                  <a:srgbClr val="0F172A"/>
                </a:solidFill>
                <a:latin typeface="Segoe UI"/>
              </a:defRPr>
            </a:pPr>
            <a:r>
              <a:t>Opportunity</a:t>
            </a:r>
            <a:br/>
            <a:r>
              <a:t>Matrix</a:t>
            </a:r>
          </a:p>
          <a:p>
            <a:pPr>
              <a:defRPr sz="1000">
                <a:solidFill>
                  <a:srgbClr val="475569"/>
                </a:solidFill>
                <a:latin typeface="Segoe UI"/>
              </a:defRPr>
            </a:pPr>
            <a:r>
              <a:t>Ranked frequency vs. user frustration severity</a:t>
            </a:r>
          </a:p>
        </p:txBody>
      </p:sp>
      <p:sp>
        <p:nvSpPr>
          <p:cNvPr id="14" name="Rounded Rectangle 13"/>
          <p:cNvSpPr/>
          <p:nvPr/>
        </p:nvSpPr>
        <p:spPr>
          <a:xfrm>
            <a:off x="9738360" y="1691640"/>
            <a:ext cx="169164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48088" y="1783080"/>
            <a:ext cx="1472184" cy="1828800"/>
          </a:xfrm>
          <a:prstGeom prst="rect">
            <a:avLst/>
          </a:prstGeom>
          <a:noFill/>
        </p:spPr>
        <p:txBody>
          <a:bodyPr wrap="square" lIns="0" tIns="0" rIns="0" bIns="0">
            <a:spAutoFit/>
          </a:bodyPr>
          <a:lstStyle/>
          <a:p>
            <a:pPr>
              <a:spcAft>
                <a:spcPts val="400"/>
              </a:spcAft>
              <a:defRPr sz="1000" b="1">
                <a:solidFill>
                  <a:srgbClr val="16A34A"/>
                </a:solidFill>
                <a:latin typeface="Segoe UI"/>
              </a:defRPr>
            </a:pPr>
            <a:r>
              <a:t>STEP 06</a:t>
            </a:r>
          </a:p>
          <a:p>
            <a:pPr>
              <a:spcAft>
                <a:spcPts val="600"/>
              </a:spcAft>
              <a:defRPr sz="1300" b="1">
                <a:solidFill>
                  <a:srgbClr val="0F172A"/>
                </a:solidFill>
                <a:latin typeface="Segoe UI"/>
              </a:defRPr>
            </a:pPr>
            <a:r>
              <a:t>AI Synthesis</a:t>
            </a:r>
            <a:br/>
            <a:r>
              <a:t>Findings</a:t>
            </a:r>
          </a:p>
          <a:p>
            <a:pPr>
              <a:defRPr sz="1000">
                <a:solidFill>
                  <a:srgbClr val="475569"/>
                </a:solidFill>
                <a:latin typeface="Segoe UI"/>
              </a:defRPr>
            </a:pPr>
            <a:r>
              <a:t>8 synthesized product opportunity findings</a:t>
            </a:r>
          </a:p>
        </p:txBody>
      </p:sp>
      <p:sp>
        <p:nvSpPr>
          <p:cNvPr id="16" name="Rounded Rectangle 15"/>
          <p:cNvSpPr/>
          <p:nvPr/>
        </p:nvSpPr>
        <p:spPr>
          <a:xfrm>
            <a:off x="731520" y="3886200"/>
            <a:ext cx="530352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023360"/>
            <a:ext cx="4846320" cy="2240280"/>
          </a:xfrm>
          <a:prstGeom prst="rect">
            <a:avLst/>
          </a:prstGeom>
          <a:noFill/>
        </p:spPr>
        <p:txBody>
          <a:bodyPr wrap="square" lIns="0" tIns="0" rIns="0" bIns="0">
            <a:spAutoFit/>
          </a:bodyPr>
          <a:lstStyle/>
          <a:p>
            <a:pPr>
              <a:spcAft>
                <a:spcPts val="800"/>
              </a:spcAft>
              <a:defRPr sz="1100" b="1">
                <a:solidFill>
                  <a:srgbClr val="EA580C"/>
                </a:solidFill>
                <a:latin typeface="Segoe UI"/>
              </a:defRPr>
            </a:pPr>
            <a:r>
              <a:t>OBSERVED OUTCOMES IN PUBLIC EVIDENCE (72 FRICTION RECORDS)</a:t>
            </a:r>
          </a:p>
          <a:p>
            <a:pPr>
              <a:spcAft>
                <a:spcPts val="300"/>
              </a:spcAft>
              <a:defRPr sz="1200">
                <a:solidFill>
                  <a:srgbClr val="0F172A"/>
                </a:solidFill>
                <a:latin typeface="Segoe UI"/>
              </a:defRPr>
            </a:pPr>
            <a:r>
              <a:t>• 69.4% — Failed Retrieval: User could not find intended photo</a:t>
            </a:r>
          </a:p>
          <a:p>
            <a:pPr>
              <a:spcAft>
                <a:spcPts val="300"/>
              </a:spcAft>
              <a:defRPr sz="1200">
                <a:solidFill>
                  <a:srgbClr val="0F172A"/>
                </a:solidFill>
                <a:latin typeface="Segoe UI"/>
              </a:defRPr>
            </a:pPr>
            <a:r>
              <a:t>• 9.7% — Search Abandoned: Exited app before completion</a:t>
            </a:r>
          </a:p>
          <a:p>
            <a:pPr>
              <a:spcAft>
                <a:spcPts val="300"/>
              </a:spcAft>
              <a:defRPr sz="1200">
                <a:solidFill>
                  <a:srgbClr val="0F172A"/>
                </a:solidFill>
                <a:latin typeface="Segoe UI"/>
              </a:defRPr>
            </a:pPr>
            <a:r>
              <a:t>• 18.1% — Successful Retrieval: Located photo after high effort</a:t>
            </a:r>
          </a:p>
          <a:p>
            <a:pPr>
              <a:spcAft>
                <a:spcPts val="300"/>
              </a:spcAft>
              <a:defRPr sz="1200">
                <a:solidFill>
                  <a:srgbClr val="0F172A"/>
                </a:solidFill>
                <a:latin typeface="Segoe UI"/>
              </a:defRPr>
            </a:pPr>
            <a:r>
              <a:t>• 2.8% — Partial Match: Located related event, not exact photo</a:t>
            </a:r>
          </a:p>
          <a:p>
            <a:pPr>
              <a:spcBef>
                <a:spcPts val="600"/>
              </a:spcBef>
              <a:defRPr sz="1000" i="1">
                <a:solidFill>
                  <a:srgbClr val="64748B"/>
                </a:solidFill>
                <a:latin typeface="Segoe UI"/>
              </a:defRPr>
            </a:pPr>
            <a:r>
              <a:t>*Note: Across analyzed public records; directional evidence of friction, not statistically representative of all users.</a:t>
            </a:r>
          </a:p>
        </p:txBody>
      </p:sp>
      <p:sp>
        <p:nvSpPr>
          <p:cNvPr id="18" name="Rounded Rectangle 17"/>
          <p:cNvSpPr/>
          <p:nvPr/>
        </p:nvSpPr>
        <p:spPr>
          <a:xfrm>
            <a:off x="6217920" y="3886200"/>
            <a:ext cx="524225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4023360"/>
            <a:ext cx="4785055" cy="2240280"/>
          </a:xfrm>
          <a:prstGeom prst="rect">
            <a:avLst/>
          </a:prstGeom>
          <a:noFill/>
        </p:spPr>
        <p:txBody>
          <a:bodyPr wrap="square" lIns="0" tIns="0" rIns="0" bIns="0">
            <a:spAutoFit/>
          </a:bodyPr>
          <a:lstStyle/>
          <a:p>
            <a:pPr>
              <a:spcAft>
                <a:spcPts val="800"/>
              </a:spcAft>
              <a:defRPr sz="1100" b="1">
                <a:solidFill>
                  <a:srgbClr val="0D9488"/>
                </a:solidFill>
                <a:latin typeface="Segoe UI"/>
              </a:defRPr>
            </a:pPr>
            <a:r>
              <a:t>8 SYNTHESIZED PRODUCT FINDINGS · TOP 3 PATTERNS</a:t>
            </a:r>
          </a:p>
          <a:p>
            <a:pPr>
              <a:spcAft>
                <a:spcPts val="100"/>
              </a:spcAft>
              <a:defRPr sz="1200" b="1">
                <a:solidFill>
                  <a:srgbClr val="0F172A"/>
                </a:solidFill>
                <a:latin typeface="Segoe UI"/>
              </a:defRPr>
            </a:pPr>
            <a:r>
              <a:t>1. Multi-Cue Relevance Collapse (86.1%)</a:t>
            </a:r>
          </a:p>
          <a:p>
            <a:pPr>
              <a:spcAft>
                <a:spcPts val="600"/>
              </a:spcAft>
              <a:defRPr sz="1100">
                <a:solidFill>
                  <a:srgbClr val="475569"/>
                </a:solidFill>
                <a:latin typeface="Segoe UI"/>
              </a:defRPr>
            </a:pPr>
            <a:r>
              <a:t>When users enter compound descriptions (person + approximate place), search returns irrelevant items or zero results, forcing single-term queries.</a:t>
            </a:r>
          </a:p>
          <a:p>
            <a:pPr>
              <a:spcAft>
                <a:spcPts val="100"/>
              </a:spcAft>
              <a:defRPr sz="1200" b="1">
                <a:solidFill>
                  <a:srgbClr val="0F172A"/>
                </a:solidFill>
                <a:latin typeface="Segoe UI"/>
              </a:defRPr>
            </a:pPr>
            <a:r>
              <a:t>2. Destructive Query Refinement (84.7%)</a:t>
            </a:r>
          </a:p>
          <a:p>
            <a:pPr>
              <a:spcAft>
                <a:spcPts val="600"/>
              </a:spcAft>
              <a:defRPr sz="1100">
                <a:solidFill>
                  <a:srgbClr val="475569"/>
                </a:solidFill>
                <a:latin typeface="Segoe UI"/>
              </a:defRPr>
            </a:pPr>
            <a:r>
              <a:t>Adding or editing words completely resets candidate results rather than progressively filtering down the existing pool.</a:t>
            </a:r>
          </a:p>
          <a:p>
            <a:pPr>
              <a:spcAft>
                <a:spcPts val="100"/>
              </a:spcAft>
              <a:defRPr sz="1200" b="1">
                <a:solidFill>
                  <a:srgbClr val="0F172A"/>
                </a:solidFill>
                <a:latin typeface="Segoe UI"/>
              </a:defRPr>
            </a:pPr>
            <a:r>
              <a:t>3. Opaque Relevance Ranking (71.2%)</a:t>
            </a:r>
          </a:p>
          <a:p>
            <a:pPr>
              <a:spcAft>
                <a:spcPts val="600"/>
              </a:spcAft>
              <a:defRPr sz="1100">
                <a:solidFill>
                  <a:srgbClr val="475569"/>
                </a:solidFill>
                <a:latin typeface="Segoe UI"/>
              </a:defRPr>
            </a:pPr>
            <a:r>
              <a:t>Users cannot determine why specific photos appear or why their intended photo was excluded, creating black-box frustration.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1A73E8"/>
                </a:solidFill>
                <a:latin typeface="Segoe UI"/>
              </a:defRPr>
            </a:pPr>
            <a:r>
              <a:t>PART 3 · PRIMARY USER RESEARCH &amp; BEHAVIORAL EVIDENCE (N=17)</a:t>
            </a:r>
          </a:p>
          <a:p>
            <a:pPr>
              <a:defRPr sz="2500" b="1">
                <a:solidFill>
                  <a:srgbClr val="0F172A"/>
                </a:solidFill>
                <a:latin typeface="Segoe UI"/>
              </a:defRPr>
            </a:pPr>
            <a:r>
              <a:t>17 Users Confirmed That People Remember Context — Not Exact Search Terms</a:t>
            </a:r>
          </a:p>
          <a:p>
            <a:pPr>
              <a:spcBef>
                <a:spcPts val="300"/>
              </a:spcBef>
              <a:defRPr sz="1300">
                <a:solidFill>
                  <a:srgbClr val="475569"/>
                </a:solidFill>
                <a:latin typeface="Segoe UI"/>
              </a:defRPr>
            </a:pPr>
            <a:r>
              <a:t>Primary research validates that episodic human recall relies on companions, settings, and events, not dates</a:t>
            </a:r>
          </a:p>
        </p:txBody>
      </p:sp>
      <p:sp>
        <p:nvSpPr>
          <p:cNvPr id="4" name="Rounded Rectangle 3"/>
          <p:cNvSpPr/>
          <p:nvPr/>
        </p:nvSpPr>
        <p:spPr>
          <a:xfrm>
            <a:off x="731520" y="169164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2286000" cy="1920240"/>
          </a:xfrm>
          <a:prstGeom prst="rect">
            <a:avLst/>
          </a:prstGeom>
          <a:noFill/>
        </p:spPr>
        <p:txBody>
          <a:bodyPr wrap="square" lIns="0" tIns="0" rIns="0" bIns="0">
            <a:spAutoFit/>
          </a:bodyPr>
          <a:lstStyle/>
          <a:p>
            <a:pPr>
              <a:spcAft>
                <a:spcPts val="200"/>
              </a:spcAft>
              <a:defRPr sz="3600" b="1">
                <a:solidFill>
                  <a:srgbClr val="EA580C"/>
                </a:solidFill>
                <a:latin typeface="Segoe UI"/>
              </a:defRPr>
            </a:pPr>
            <a:r>
              <a:t>94.1%</a:t>
            </a:r>
          </a:p>
          <a:p>
            <a:pPr>
              <a:spcAft>
                <a:spcPts val="400"/>
              </a:spcAft>
              <a:defRPr sz="1300" b="1">
                <a:solidFill>
                  <a:srgbClr val="0F172A"/>
                </a:solidFill>
                <a:latin typeface="Segoe UI"/>
              </a:defRPr>
            </a:pPr>
            <a:r>
              <a:t>Searched Without Exact Date</a:t>
            </a:r>
          </a:p>
          <a:p>
            <a:pPr>
              <a:defRPr sz="1100">
                <a:solidFill>
                  <a:srgbClr val="475569"/>
                </a:solidFill>
                <a:latin typeface="Segoe UI"/>
              </a:defRPr>
            </a:pPr>
            <a:r>
              <a:t>16 of 17 users recall approximate eras or seasons, never specific calendar dates</a:t>
            </a:r>
          </a:p>
        </p:txBody>
      </p:sp>
      <p:sp>
        <p:nvSpPr>
          <p:cNvPr id="6" name="Rounded Rectangle 5"/>
          <p:cNvSpPr/>
          <p:nvPr/>
        </p:nvSpPr>
        <p:spPr>
          <a:xfrm>
            <a:off x="3456432" y="169164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2" y="1783080"/>
            <a:ext cx="2286000" cy="1920240"/>
          </a:xfrm>
          <a:prstGeom prst="rect">
            <a:avLst/>
          </a:prstGeom>
          <a:noFill/>
        </p:spPr>
        <p:txBody>
          <a:bodyPr wrap="square" lIns="0" tIns="0" rIns="0" bIns="0">
            <a:spAutoFit/>
          </a:bodyPr>
          <a:lstStyle/>
          <a:p>
            <a:pPr>
              <a:spcAft>
                <a:spcPts val="200"/>
              </a:spcAft>
              <a:defRPr sz="3600" b="1">
                <a:solidFill>
                  <a:srgbClr val="EA580C"/>
                </a:solidFill>
                <a:latin typeface="Segoe UI"/>
              </a:defRPr>
            </a:pPr>
            <a:r>
              <a:t>88.2%</a:t>
            </a:r>
          </a:p>
          <a:p>
            <a:pPr>
              <a:spcAft>
                <a:spcPts val="400"/>
              </a:spcAft>
              <a:defRPr sz="1300" b="1">
                <a:solidFill>
                  <a:srgbClr val="0F172A"/>
                </a:solidFill>
                <a:latin typeface="Segoe UI"/>
              </a:defRPr>
            </a:pPr>
            <a:r>
              <a:t>Attempted ≥3 Searches</a:t>
            </a:r>
          </a:p>
          <a:p>
            <a:pPr>
              <a:defRPr sz="1100">
                <a:solidFill>
                  <a:srgbClr val="475569"/>
                </a:solidFill>
                <a:latin typeface="Segoe UI"/>
              </a:defRPr>
            </a:pPr>
            <a:r>
              <a:t>15 of 17 users engage in repeated trial-and-error reformulations per session</a:t>
            </a:r>
          </a:p>
        </p:txBody>
      </p:sp>
      <p:sp>
        <p:nvSpPr>
          <p:cNvPr id="8" name="Rounded Rectangle 7"/>
          <p:cNvSpPr/>
          <p:nvPr/>
        </p:nvSpPr>
        <p:spPr>
          <a:xfrm>
            <a:off x="6181344" y="169164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1783080"/>
            <a:ext cx="2286000" cy="1920240"/>
          </a:xfrm>
          <a:prstGeom prst="rect">
            <a:avLst/>
          </a:prstGeom>
          <a:noFill/>
        </p:spPr>
        <p:txBody>
          <a:bodyPr wrap="square" lIns="0" tIns="0" rIns="0" bIns="0">
            <a:spAutoFit/>
          </a:bodyPr>
          <a:lstStyle/>
          <a:p>
            <a:pPr>
              <a:spcAft>
                <a:spcPts val="200"/>
              </a:spcAft>
              <a:defRPr sz="3600" b="1">
                <a:solidFill>
                  <a:srgbClr val="1A73E8"/>
                </a:solidFill>
                <a:latin typeface="Segoe UI"/>
              </a:defRPr>
            </a:pPr>
            <a:r>
              <a:t>94.1%</a:t>
            </a:r>
          </a:p>
          <a:p>
            <a:pPr>
              <a:spcAft>
                <a:spcPts val="400"/>
              </a:spcAft>
              <a:defRPr sz="1300" b="1">
                <a:solidFill>
                  <a:srgbClr val="0F172A"/>
                </a:solidFill>
                <a:latin typeface="Segoe UI"/>
              </a:defRPr>
            </a:pPr>
            <a:r>
              <a:t>Searched Outside Google Photos</a:t>
            </a:r>
          </a:p>
          <a:p>
            <a:pPr>
              <a:defRPr sz="1100">
                <a:solidFill>
                  <a:srgbClr val="475569"/>
                </a:solidFill>
                <a:latin typeface="Segoe UI"/>
              </a:defRPr>
            </a:pPr>
            <a:r>
              <a:t>16 of 17 use external workarounds (WhatsApp chats, Instagram) to find photo clues</a:t>
            </a:r>
          </a:p>
        </p:txBody>
      </p:sp>
      <p:sp>
        <p:nvSpPr>
          <p:cNvPr id="10" name="Rounded Rectangle 9"/>
          <p:cNvSpPr/>
          <p:nvPr/>
        </p:nvSpPr>
        <p:spPr>
          <a:xfrm>
            <a:off x="8906256" y="1691640"/>
            <a:ext cx="256032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43416" y="1783080"/>
            <a:ext cx="2286000" cy="1920240"/>
          </a:xfrm>
          <a:prstGeom prst="rect">
            <a:avLst/>
          </a:prstGeom>
          <a:noFill/>
        </p:spPr>
        <p:txBody>
          <a:bodyPr wrap="square" lIns="0" tIns="0" rIns="0" bIns="0">
            <a:spAutoFit/>
          </a:bodyPr>
          <a:lstStyle/>
          <a:p>
            <a:pPr>
              <a:spcAft>
                <a:spcPts val="200"/>
              </a:spcAft>
              <a:defRPr sz="3600" b="1">
                <a:solidFill>
                  <a:srgbClr val="EA580C"/>
                </a:solidFill>
                <a:latin typeface="Segoe UI"/>
              </a:defRPr>
            </a:pPr>
            <a:r>
              <a:t>70.6%</a:t>
            </a:r>
          </a:p>
          <a:p>
            <a:pPr>
              <a:spcAft>
                <a:spcPts val="400"/>
              </a:spcAft>
              <a:defRPr sz="1300" b="1">
                <a:solidFill>
                  <a:srgbClr val="0F172A"/>
                </a:solidFill>
                <a:latin typeface="Segoe UI"/>
              </a:defRPr>
            </a:pPr>
            <a:r>
              <a:t>Abandoned Retrieval Sessions</a:t>
            </a:r>
          </a:p>
          <a:p>
            <a:pPr>
              <a:defRPr sz="1100">
                <a:solidFill>
                  <a:srgbClr val="475569"/>
                </a:solidFill>
                <a:latin typeface="Segoe UI"/>
              </a:defRPr>
            </a:pPr>
            <a:r>
              <a:t>12 of 17 users report frequently or sometimes abandoning searches due to fatigue</a:t>
            </a:r>
          </a:p>
        </p:txBody>
      </p:sp>
      <p:sp>
        <p:nvSpPr>
          <p:cNvPr id="12" name="Rounded Rectangle 11"/>
          <p:cNvSpPr/>
          <p:nvPr/>
        </p:nvSpPr>
        <p:spPr>
          <a:xfrm>
            <a:off x="731520" y="3977639"/>
            <a:ext cx="585216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14800"/>
            <a:ext cx="5394960" cy="2148840"/>
          </a:xfrm>
          <a:prstGeom prst="rect">
            <a:avLst/>
          </a:prstGeom>
          <a:noFill/>
        </p:spPr>
        <p:txBody>
          <a:bodyPr wrap="square" lIns="0" tIns="0" rIns="0" bIns="0">
            <a:spAutoFit/>
          </a:bodyPr>
          <a:lstStyle/>
          <a:p>
            <a:pPr>
              <a:spcAft>
                <a:spcPts val="800"/>
              </a:spcAft>
              <a:defRPr sz="1100" b="1">
                <a:solidFill>
                  <a:srgbClr val="0D9488"/>
                </a:solidFill>
                <a:latin typeface="Segoe UI"/>
              </a:defRPr>
            </a:pPr>
            <a:r>
              <a:t>THE EPISODIC MEMORY FINGERPRINT (WHAT USERS RECALL)</a:t>
            </a:r>
          </a:p>
          <a:p>
            <a:pPr>
              <a:spcAft>
                <a:spcPts val="400"/>
              </a:spcAft>
              <a:defRPr sz="1150">
                <a:solidFill>
                  <a:srgbClr val="0F172A"/>
                </a:solidFill>
                <a:latin typeface="Segoe UI"/>
              </a:defRPr>
            </a:pPr>
            <a:r>
              <a:t>• Person / Companion — 76.5% (13/17): Who was with them is the strongest emotional anchor</a:t>
            </a:r>
          </a:p>
          <a:p>
            <a:pPr>
              <a:spcAft>
                <a:spcPts val="400"/>
              </a:spcAft>
              <a:defRPr sz="1150">
                <a:solidFill>
                  <a:srgbClr val="0F172A"/>
                </a:solidFill>
                <a:latin typeface="Segoe UI"/>
              </a:defRPr>
            </a:pPr>
            <a:r>
              <a:t>• Approximate Time — 47.1% (8/17): Relative timeframes: 'around 3 years ago', 'college days'</a:t>
            </a:r>
          </a:p>
          <a:p>
            <a:pPr>
              <a:spcAft>
                <a:spcPts val="400"/>
              </a:spcAft>
              <a:defRPr sz="1150">
                <a:solidFill>
                  <a:srgbClr val="0F172A"/>
                </a:solidFill>
                <a:latin typeface="Segoe UI"/>
              </a:defRPr>
            </a:pPr>
            <a:r>
              <a:t>• Location / Setting — 47.1% (8/17): Broad geographic or contextual place: 'Goa', 'beach', 'cafe'</a:t>
            </a:r>
          </a:p>
          <a:p>
            <a:pPr>
              <a:spcAft>
                <a:spcPts val="400"/>
              </a:spcAft>
              <a:defRPr sz="1150">
                <a:solidFill>
                  <a:srgbClr val="0F172A"/>
                </a:solidFill>
                <a:latin typeface="Segoe UI"/>
              </a:defRPr>
            </a:pPr>
            <a:r>
              <a:t>• Activity / Event — 41.2% (7/17): What was taking place: 'sunset', 'wedding', 'birthday dinner'</a:t>
            </a:r>
          </a:p>
        </p:txBody>
      </p:sp>
      <p:sp>
        <p:nvSpPr>
          <p:cNvPr id="14" name="Rounded Rectangle 13"/>
          <p:cNvSpPr/>
          <p:nvPr/>
        </p:nvSpPr>
        <p:spPr>
          <a:xfrm>
            <a:off x="6766560" y="3977639"/>
            <a:ext cx="4693615" cy="2423160"/>
          </a:xfrm>
          <a:prstGeom prst="roundRect">
            <a:avLst/>
          </a:prstGeom>
          <a:solidFill>
            <a:srgbClr val="E8F0FE"/>
          </a:solidFill>
          <a:ln w="12700">
            <a:solidFill>
              <a:srgbClr val="C2D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4114800"/>
            <a:ext cx="4236415" cy="2148840"/>
          </a:xfrm>
          <a:prstGeom prst="rect">
            <a:avLst/>
          </a:prstGeom>
          <a:noFill/>
        </p:spPr>
        <p:txBody>
          <a:bodyPr wrap="square" lIns="0" tIns="0" rIns="0" bIns="0">
            <a:spAutoFit/>
          </a:bodyPr>
          <a:lstStyle/>
          <a:p>
            <a:pPr>
              <a:spcAft>
                <a:spcPts val="800"/>
              </a:spcAft>
              <a:defRPr sz="1100" b="1">
                <a:solidFill>
                  <a:srgbClr val="1A73E8"/>
                </a:solidFill>
                <a:latin typeface="Segoe UI"/>
              </a:defRPr>
            </a:pPr>
            <a:r>
              <a:t>AUTHENTIC USER SEARCH BLOCKERS</a:t>
            </a:r>
          </a:p>
          <a:p>
            <a:pPr>
              <a:spcAft>
                <a:spcPts val="600"/>
              </a:spcAft>
              <a:defRPr sz="1200" b="1">
                <a:solidFill>
                  <a:srgbClr val="0F172A"/>
                </a:solidFill>
                <a:latin typeface="Segoe UI"/>
              </a:defRPr>
            </a:pPr>
            <a:r>
              <a:t>“I don't know what words to search. I just remember who I was with and roughly where.”</a:t>
            </a:r>
          </a:p>
          <a:p>
            <a:pPr>
              <a:spcAft>
                <a:spcPts val="600"/>
              </a:spcAft>
              <a:defRPr sz="1200" b="1">
                <a:solidFill>
                  <a:srgbClr val="0F172A"/>
                </a:solidFill>
                <a:latin typeface="Segoe UI"/>
              </a:defRPr>
            </a:pPr>
            <a:r>
              <a:t>“I don't remember the exact date, so I end up having to scroll manually through years of photos.”</a:t>
            </a:r>
          </a:p>
          <a:p>
            <a:pPr>
              <a:spcAft>
                <a:spcPts val="600"/>
              </a:spcAft>
              <a:defRPr sz="1200" b="1">
                <a:solidFill>
                  <a:srgbClr val="0F172A"/>
                </a:solidFill>
                <a:latin typeface="Segoe UI"/>
              </a:defRPr>
            </a:pPr>
            <a:r>
              <a:t>“When search doesn't show it, I check my old WhatsApp messages to see when we took the photo.”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1A73E8"/>
                </a:solidFill>
                <a:latin typeface="Segoe UI"/>
              </a:defRPr>
            </a:pPr>
            <a:r>
              <a:t>PART 4 · TARGET SEGMENT, ROOT CAUSE &amp; VALUE PROPOSITION</a:t>
            </a:r>
          </a:p>
          <a:p>
            <a:pPr>
              <a:defRPr sz="2500" b="1">
                <a:solidFill>
                  <a:srgbClr val="0F172A"/>
                </a:solidFill>
                <a:latin typeface="Segoe UI"/>
              </a:defRPr>
            </a:pPr>
            <a:r>
              <a:t>The Episodic Personal Memory Searcher Needs Help Turning Fuzzy Cues Into a Retrieval Path</a:t>
            </a:r>
          </a:p>
          <a:p>
            <a:pPr>
              <a:spcBef>
                <a:spcPts val="300"/>
              </a:spcBef>
              <a:defRPr sz="1300">
                <a:solidFill>
                  <a:srgbClr val="475569"/>
                </a:solidFill>
                <a:latin typeface="Segoe UI"/>
              </a:defRPr>
            </a:pPr>
            <a:r>
              <a:t>Defining the target archetype, formulating the evidence-bound root cause, and articulating dual value</a:t>
            </a:r>
          </a:p>
        </p:txBody>
      </p:sp>
      <p:sp>
        <p:nvSpPr>
          <p:cNvPr id="4" name="Rounded Rectangle 3"/>
          <p:cNvSpPr/>
          <p:nvPr/>
        </p:nvSpPr>
        <p:spPr>
          <a:xfrm>
            <a:off x="731520" y="1691640"/>
            <a:ext cx="5120640"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343400"/>
          </a:xfrm>
          <a:prstGeom prst="rect">
            <a:avLst/>
          </a:prstGeom>
          <a:noFill/>
        </p:spPr>
        <p:txBody>
          <a:bodyPr wrap="square" lIns="0" tIns="0" rIns="0" bIns="0">
            <a:spAutoFit/>
          </a:bodyPr>
          <a:lstStyle/>
          <a:p>
            <a:pPr>
              <a:spcAft>
                <a:spcPts val="400"/>
              </a:spcAft>
              <a:defRPr sz="1100" b="1">
                <a:solidFill>
                  <a:srgbClr val="1A73E8"/>
                </a:solidFill>
                <a:latin typeface="Segoe UI"/>
              </a:defRPr>
            </a:pPr>
            <a:r>
              <a:t>TARGET USER SEGMENT ARCHETYPE</a:t>
            </a:r>
          </a:p>
          <a:p>
            <a:pPr>
              <a:spcAft>
                <a:spcPts val="1200"/>
              </a:spcAft>
              <a:defRPr sz="2000" b="1">
                <a:solidFill>
                  <a:srgbClr val="0F172A"/>
                </a:solidFill>
                <a:latin typeface="Segoe UI"/>
              </a:defRPr>
            </a:pPr>
            <a:r>
              <a:t>The Episodic Personal Memory Searcher</a:t>
            </a:r>
          </a:p>
          <a:p>
            <a:pPr>
              <a:spcAft>
                <a:spcPts val="800"/>
              </a:spcAft>
              <a:defRPr sz="1250">
                <a:solidFill>
                  <a:srgbClr val="0F172A"/>
                </a:solidFill>
                <a:latin typeface="Segoe UI"/>
              </a:defRPr>
            </a:pPr>
            <a:r>
              <a:t>• Library Scale: Large personal photo library accumulated over years across devices.</a:t>
            </a:r>
          </a:p>
          <a:p>
            <a:pPr>
              <a:spcAft>
                <a:spcPts val="800"/>
              </a:spcAft>
              <a:defRPr sz="1250">
                <a:solidFill>
                  <a:srgbClr val="0F172A"/>
                </a:solidFill>
                <a:latin typeface="Segoe UI"/>
              </a:defRPr>
            </a:pPr>
            <a:r>
              <a:t>• Memory Retrieval Style: Meaningful moments remembered episodically — emotional anchors, companions, fuzzy seasons, and visual settings.</a:t>
            </a:r>
          </a:p>
          <a:p>
            <a:pPr>
              <a:spcAft>
                <a:spcPts val="800"/>
              </a:spcAft>
              <a:defRPr sz="1250">
                <a:solidFill>
                  <a:srgbClr val="0F172A"/>
                </a:solidFill>
                <a:latin typeface="Segoe UI"/>
              </a:defRPr>
            </a:pPr>
            <a:r>
              <a:t>• Knowledge Constraints: Exact dates, specific calendar months, or machine filenames often unreliable.</a:t>
            </a:r>
          </a:p>
          <a:p>
            <a:pPr>
              <a:spcAft>
                <a:spcPts val="800"/>
              </a:spcAft>
              <a:defRPr sz="1250">
                <a:solidFill>
                  <a:srgbClr val="0F172A"/>
                </a:solidFill>
                <a:latin typeface="Segoe UI"/>
              </a:defRPr>
            </a:pPr>
            <a:r>
              <a:t>• Observed Search Behavior: Multiple search attempts and query reformulations may be required.</a:t>
            </a:r>
          </a:p>
          <a:p>
            <a:pPr>
              <a:spcAft>
                <a:spcPts val="800"/>
              </a:spcAft>
              <a:defRPr sz="1250">
                <a:solidFill>
                  <a:srgbClr val="0F172A"/>
                </a:solidFill>
                <a:latin typeface="Segoe UI"/>
              </a:defRPr>
            </a:pPr>
            <a:r>
              <a:t>• Painful Fallback: Resorts to manual timeline scrubbing (65.3%) or external chat app searching (34.7%) when initial queries fail.</a:t>
            </a:r>
          </a:p>
        </p:txBody>
      </p:sp>
      <p:sp>
        <p:nvSpPr>
          <p:cNvPr id="6" name="Rounded Rectangle 5"/>
          <p:cNvSpPr/>
          <p:nvPr/>
        </p:nvSpPr>
        <p:spPr>
          <a:xfrm>
            <a:off x="6035040" y="1691640"/>
            <a:ext cx="5425135" cy="2286000"/>
          </a:xfrm>
          <a:prstGeom prst="roundRect">
            <a:avLst/>
          </a:prstGeom>
          <a:solidFill>
            <a:srgbClr val="FFEDD5"/>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63640" y="1874519"/>
            <a:ext cx="4967935" cy="1920240"/>
          </a:xfrm>
          <a:prstGeom prst="rect">
            <a:avLst/>
          </a:prstGeom>
          <a:noFill/>
        </p:spPr>
        <p:txBody>
          <a:bodyPr wrap="square" lIns="0" tIns="0" rIns="0" bIns="0">
            <a:spAutoFit/>
          </a:bodyPr>
          <a:lstStyle/>
          <a:p>
            <a:pPr>
              <a:spcAft>
                <a:spcPts val="600"/>
              </a:spcAft>
              <a:defRPr sz="1100" b="1">
                <a:solidFill>
                  <a:srgbClr val="EA580C"/>
                </a:solidFill>
                <a:latin typeface="Segoe UI"/>
              </a:defRPr>
            </a:pPr>
            <a:r>
              <a:t>EVIDENCE-BOUND ROOT-CAUSE HYPOTHESIS</a:t>
            </a:r>
          </a:p>
          <a:p>
            <a:pPr>
              <a:spcAft>
                <a:spcPts val="800"/>
              </a:spcAft>
              <a:defRPr sz="1600" b="1">
                <a:solidFill>
                  <a:srgbClr val="0F172A"/>
                </a:solidFill>
                <a:latin typeface="Segoe UI"/>
              </a:defRPr>
            </a:pPr>
            <a:r>
              <a:t>“The observed retrieval experience does not consistently help users translate multiple fuzzy memory cues into an effective search or refinement path.”</a:t>
            </a:r>
          </a:p>
          <a:p>
            <a:pPr>
              <a:defRPr sz="1100" i="1">
                <a:solidFill>
                  <a:srgbClr val="475569"/>
                </a:solidFill>
                <a:latin typeface="Segoe UI"/>
              </a:defRPr>
            </a:pPr>
            <a:r>
              <a:t>*Formulated as a user-experience hypothesis grounded in observed research, without claiming internal Google technical or ranking defects.</a:t>
            </a:r>
          </a:p>
        </p:txBody>
      </p:sp>
      <p:sp>
        <p:nvSpPr>
          <p:cNvPr id="8" name="Rounded Rectangle 7"/>
          <p:cNvSpPr/>
          <p:nvPr/>
        </p:nvSpPr>
        <p:spPr>
          <a:xfrm>
            <a:off x="6035040" y="4160520"/>
            <a:ext cx="5425135"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4297680"/>
            <a:ext cx="4967935" cy="1965960"/>
          </a:xfrm>
          <a:prstGeom prst="rect">
            <a:avLst/>
          </a:prstGeom>
          <a:noFill/>
        </p:spPr>
        <p:txBody>
          <a:bodyPr wrap="square" lIns="0" tIns="0" rIns="0" bIns="0">
            <a:spAutoFit/>
          </a:bodyPr>
          <a:lstStyle/>
          <a:p>
            <a:pPr>
              <a:spcAft>
                <a:spcPts val="600"/>
              </a:spcAft>
              <a:defRPr sz="1100" b="1">
                <a:solidFill>
                  <a:srgbClr val="0D9488"/>
                </a:solidFill>
                <a:latin typeface="Segoe UI"/>
              </a:defRPr>
            </a:pPr>
            <a:r>
              <a:t>DUAL VALUE PROPOSITION</a:t>
            </a:r>
          </a:p>
          <a:p>
            <a:pPr>
              <a:spcAft>
                <a:spcPts val="200"/>
              </a:spcAft>
              <a:defRPr sz="1300" b="1">
                <a:solidFill>
                  <a:srgbClr val="0F172A"/>
                </a:solidFill>
                <a:latin typeface="Segoe UI"/>
              </a:defRPr>
            </a:pPr>
            <a:r>
              <a:t>User Value: Emotional Reassurance &amp; Frictionless Recovery</a:t>
            </a:r>
          </a:p>
          <a:p>
            <a:pPr>
              <a:spcAft>
                <a:spcPts val="800"/>
              </a:spcAft>
              <a:defRPr sz="1150">
                <a:solidFill>
                  <a:srgbClr val="475569"/>
                </a:solidFill>
                <a:latin typeface="Segoe UI"/>
              </a:defRPr>
            </a:pPr>
            <a:r>
              <a:t>Restores confidence in finding cherished personal memories; replaces exhausting manual scrolling with guided, natural language cue refinement.</a:t>
            </a:r>
          </a:p>
          <a:p>
            <a:pPr>
              <a:spcAft>
                <a:spcPts val="200"/>
              </a:spcAft>
              <a:defRPr sz="1300" b="1">
                <a:solidFill>
                  <a:srgbClr val="0F172A"/>
                </a:solidFill>
                <a:latin typeface="Segoe UI"/>
              </a:defRPr>
            </a:pPr>
            <a:r>
              <a:t>Business Value Hypothesis: Core Archive Utility</a:t>
            </a:r>
          </a:p>
          <a:p>
            <a:pPr>
              <a:defRPr sz="1150">
                <a:solidFill>
                  <a:srgbClr val="475569"/>
                </a:solidFill>
                <a:latin typeface="Segoe UI"/>
              </a:defRPr>
            </a:pPr>
            <a:r>
              <a:t>Strengthen the usefulness and perceived value of Google Photos as a long-term personal archive, while reducing situations where users leave Google Photos to recover a photo elsewhere.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1A73E8"/>
                </a:solidFill>
                <a:latin typeface="Segoe UI"/>
              </a:defRPr>
            </a:pPr>
            <a:r>
              <a:t>PART 5 · AI-NATIVE MVP ARCHITECTURE &amp; WORKFLOW</a:t>
            </a:r>
          </a:p>
          <a:p>
            <a:pPr>
              <a:defRPr sz="2500" b="1">
                <a:solidFill>
                  <a:srgbClr val="0F172A"/>
                </a:solidFill>
                <a:latin typeface="Segoe UI"/>
              </a:defRPr>
            </a:pPr>
            <a:r>
              <a:t>The MVP Turns an Incomplete Memory Into Searchable Cues — Then Helps the User Refine</a:t>
            </a:r>
          </a:p>
          <a:p>
            <a:pPr>
              <a:spcBef>
                <a:spcPts val="300"/>
              </a:spcBef>
              <a:defRPr sz="1300">
                <a:solidFill>
                  <a:srgbClr val="475569"/>
                </a:solidFill>
                <a:latin typeface="Segoe UI"/>
              </a:defRPr>
            </a:pPr>
            <a:r>
              <a:t>Controlled research prototype combining 8-dimensional cue extraction, explainable ranking, and additive refinement</a:t>
            </a:r>
          </a:p>
        </p:txBody>
      </p:sp>
      <p:sp>
        <p:nvSpPr>
          <p:cNvPr id="4" name="Rounded Rectangle 3"/>
          <p:cNvSpPr/>
          <p:nvPr/>
        </p:nvSpPr>
        <p:spPr>
          <a:xfrm>
            <a:off x="731520" y="1691640"/>
            <a:ext cx="5303520" cy="4709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846320" cy="4343400"/>
          </a:xfrm>
          <a:prstGeom prst="rect">
            <a:avLst/>
          </a:prstGeom>
          <a:noFill/>
        </p:spPr>
        <p:txBody>
          <a:bodyPr wrap="square" lIns="0" tIns="0" rIns="0" bIns="0">
            <a:spAutoFit/>
          </a:bodyPr>
          <a:lstStyle/>
          <a:p>
            <a:pPr>
              <a:spcAft>
                <a:spcPts val="800"/>
              </a:spcAft>
              <a:defRPr sz="1100" b="1">
                <a:solidFill>
                  <a:srgbClr val="1A73E8"/>
                </a:solidFill>
                <a:latin typeface="Segoe UI"/>
              </a:defRPr>
            </a:pPr>
            <a:r>
              <a:t>AI MEMORY RETRIEVAL ASSISTANT WORKFLOW</a:t>
            </a:r>
          </a:p>
          <a:p>
            <a:pPr>
              <a:spcAft>
                <a:spcPts val="100"/>
              </a:spcAft>
              <a:defRPr sz="1300" b="1">
                <a:solidFill>
                  <a:srgbClr val="0F172A"/>
                </a:solidFill>
                <a:latin typeface="Segoe UI"/>
              </a:defRPr>
            </a:pPr>
            <a:r>
              <a:t>1. Freeform Episodic Memory Input</a:t>
            </a:r>
          </a:p>
          <a:p>
            <a:pPr>
              <a:spcAft>
                <a:spcPts val="800"/>
              </a:spcAft>
              <a:defRPr sz="1100">
                <a:solidFill>
                  <a:srgbClr val="475569"/>
                </a:solidFill>
                <a:latin typeface="Segoe UI"/>
              </a:defRPr>
            </a:pPr>
            <a:r>
              <a:t>User types natural language memory: 'I remember a photo with Rohan at Anjuna beach around sunset about 3 years ago.'</a:t>
            </a:r>
          </a:p>
          <a:p>
            <a:pPr>
              <a:spcAft>
                <a:spcPts val="100"/>
              </a:spcAft>
              <a:defRPr sz="1300" b="1">
                <a:solidFill>
                  <a:srgbClr val="0F172A"/>
                </a:solidFill>
                <a:latin typeface="Segoe UI"/>
              </a:defRPr>
            </a:pPr>
            <a:r>
              <a:t>2. 8-Facet Cue Interpretation</a:t>
            </a:r>
          </a:p>
          <a:p>
            <a:pPr>
              <a:spcAft>
                <a:spcPts val="800"/>
              </a:spcAft>
              <a:defRPr sz="1100">
                <a:solidFill>
                  <a:srgbClr val="475569"/>
                </a:solidFill>
                <a:latin typeface="Segoe UI"/>
              </a:defRPr>
            </a:pPr>
            <a:r>
              <a:t>NLP extracts structured signals: Person (Rohan), Location (Goa/Anjuna), Time (~2023), Activity (Sunset), Objects &amp; Visuals.</a:t>
            </a:r>
          </a:p>
          <a:p>
            <a:pPr>
              <a:spcAft>
                <a:spcPts val="100"/>
              </a:spcAft>
              <a:defRPr sz="1300" b="1">
                <a:solidFill>
                  <a:srgbClr val="0F172A"/>
                </a:solidFill>
                <a:latin typeface="Segoe UI"/>
              </a:defRPr>
            </a:pPr>
            <a:r>
              <a:t>3. Transparent Explainability</a:t>
            </a:r>
          </a:p>
          <a:p>
            <a:pPr>
              <a:spcAft>
                <a:spcPts val="800"/>
              </a:spcAft>
              <a:defRPr sz="1100">
                <a:solidFill>
                  <a:srgbClr val="475569"/>
                </a:solidFill>
                <a:latin typeface="Segoe UI"/>
              </a:defRPr>
            </a:pPr>
            <a:r>
              <a:t>Displays 'What I Understood' cue pills and 'Why this result?' rationale bullets showing exact match drivers for each photo.</a:t>
            </a:r>
          </a:p>
          <a:p>
            <a:pPr>
              <a:spcAft>
                <a:spcPts val="100"/>
              </a:spcAft>
              <a:defRPr sz="1300" b="1">
                <a:solidFill>
                  <a:srgbClr val="0F172A"/>
                </a:solidFill>
                <a:latin typeface="Segoe UI"/>
              </a:defRPr>
            </a:pPr>
            <a:r>
              <a:t>4. Iterative Additive Refinement</a:t>
            </a:r>
          </a:p>
          <a:p>
            <a:pPr>
              <a:spcAft>
                <a:spcPts val="800"/>
              </a:spcAft>
              <a:defRPr sz="1100">
                <a:solidFill>
                  <a:srgbClr val="475569"/>
                </a:solidFill>
                <a:latin typeface="Segoe UI"/>
              </a:defRPr>
            </a:pPr>
            <a:r>
              <a:t>Users layer incremental clues ('+with evening drinks') or click '✕ Not this photo' to penalize visual distractors without resetting context.</a:t>
            </a:r>
          </a:p>
          <a:p>
            <a:pPr>
              <a:spcAft>
                <a:spcPts val="100"/>
              </a:spcAft>
              <a:defRPr sz="1300" b="1">
                <a:solidFill>
                  <a:srgbClr val="0F172A"/>
                </a:solidFill>
                <a:latin typeface="Segoe UI"/>
              </a:defRPr>
            </a:pPr>
            <a:r>
              <a:t>5. Fast Candidate Convergence</a:t>
            </a:r>
          </a:p>
          <a:p>
            <a:pPr>
              <a:spcAft>
                <a:spcPts val="800"/>
              </a:spcAft>
              <a:defRPr sz="1100">
                <a:solidFill>
                  <a:srgbClr val="475569"/>
                </a:solidFill>
                <a:latin typeface="Segoe UI"/>
              </a:defRPr>
            </a:pPr>
            <a:r>
              <a:t>Dynamically updates candidate ranks, successfully surfacing the target photo in the top spots.</a:t>
            </a:r>
          </a:p>
        </p:txBody>
      </p:sp>
      <p:pic>
        <p:nvPicPr>
          <p:cNvPr id="6" name="Picture 5" descr="mvp_ui_card_perfect.png"/>
          <p:cNvPicPr>
            <a:picLocks noChangeAspect="1"/>
          </p:cNvPicPr>
          <p:nvPr/>
        </p:nvPicPr>
        <p:blipFill>
          <a:blip r:embed="rId2"/>
          <a:stretch>
            <a:fillRect/>
          </a:stretch>
        </p:blipFill>
        <p:spPr>
          <a:xfrm>
            <a:off x="6217920" y="1691640"/>
            <a:ext cx="5242255" cy="3524965"/>
          </a:xfrm>
          <a:prstGeom prst="rect">
            <a:avLst/>
          </a:prstGeom>
          <a:ln w="12700">
            <a:solidFill>
              <a:srgbClr val="E2E8F0"/>
            </a:solidFill>
          </a:ln>
        </p:spPr>
      </p:pic>
      <p:sp>
        <p:nvSpPr>
          <p:cNvPr id="7" name="Rounded Rectangle 6"/>
          <p:cNvSpPr/>
          <p:nvPr/>
        </p:nvSpPr>
        <p:spPr>
          <a:xfrm>
            <a:off x="6217920" y="4983480"/>
            <a:ext cx="5242255" cy="1417320"/>
          </a:xfrm>
          <a:prstGeom prst="roundRect">
            <a:avLst/>
          </a:prstGeom>
          <a:solidFill>
            <a:srgbClr val="E8F0FE"/>
          </a:solidFill>
          <a:ln w="12700">
            <a:solidFill>
              <a:srgbClr val="C2D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5074920"/>
            <a:ext cx="4876495" cy="1234440"/>
          </a:xfrm>
          <a:prstGeom prst="rect">
            <a:avLst/>
          </a:prstGeom>
          <a:noFill/>
        </p:spPr>
        <p:txBody>
          <a:bodyPr wrap="square" lIns="0" tIns="0" rIns="0" bIns="0">
            <a:spAutoFit/>
          </a:bodyPr>
          <a:lstStyle/>
          <a:p>
            <a:pPr>
              <a:spcAft>
                <a:spcPts val="200"/>
              </a:spcAft>
              <a:defRPr sz="1000" b="1">
                <a:solidFill>
                  <a:srgbClr val="1A73E8"/>
                </a:solidFill>
                <a:latin typeface="Segoe UI"/>
              </a:defRPr>
            </a:pPr>
            <a:r>
              <a:t>CONTROLLED RESEARCH PROTOTYPE BOUNDARIES</a:t>
            </a:r>
          </a:p>
          <a:p>
            <a:pPr>
              <a:defRPr sz="1100">
                <a:solidFill>
                  <a:srgbClr val="0F172A"/>
                </a:solidFill>
                <a:latin typeface="Segoe UI"/>
              </a:defRPr>
            </a:pPr>
            <a:r>
              <a:t>• Tested against a 40-photo curated representative dataset with diverse categories.</a:t>
            </a:r>
            <a:br/>
            <a:r>
              <a:t>• Evaluates memory-to-cue translation and refinement mechanics without live account sync.</a:t>
            </a:r>
            <a:br/>
            <a:r>
              <a:t>• Provides preliminary proof-of-concept evidence for additive memory interpretation.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1A73E8"/>
                </a:solidFill>
                <a:latin typeface="Segoe UI"/>
              </a:defRPr>
            </a:pPr>
            <a:r>
              <a:t>PART 6 · USABILITY TESTING &amp; CORE PRODUCT LEARNING (N=4)</a:t>
            </a:r>
          </a:p>
          <a:p>
            <a:pPr>
              <a:defRPr sz="2500" b="1">
                <a:solidFill>
                  <a:srgbClr val="0F172A"/>
                </a:solidFill>
                <a:latin typeface="Segoe UI"/>
              </a:defRPr>
            </a:pPr>
            <a:r>
              <a:t>Users Found Refinement Useful — But Needed Help Knowing What Clue to Add Next</a:t>
            </a:r>
          </a:p>
          <a:p>
            <a:pPr>
              <a:spcBef>
                <a:spcPts val="300"/>
              </a:spcBef>
              <a:defRPr sz="1300">
                <a:solidFill>
                  <a:srgbClr val="475569"/>
                </a:solidFill>
                <a:latin typeface="Segoe UI"/>
              </a:defRPr>
            </a:pPr>
            <a:r>
              <a:t>Controlled usability testing of the deployed prototype provided preliminary usability evidence and revealed the next product opportunity</a:t>
            </a:r>
          </a:p>
        </p:txBody>
      </p:sp>
      <p:sp>
        <p:nvSpPr>
          <p:cNvPr id="4" name="Rounded Rectangle 3"/>
          <p:cNvSpPr/>
          <p:nvPr/>
        </p:nvSpPr>
        <p:spPr>
          <a:xfrm>
            <a:off x="731520" y="1691640"/>
            <a:ext cx="2039112"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83080"/>
            <a:ext cx="1819656" cy="1645920"/>
          </a:xfrm>
          <a:prstGeom prst="rect">
            <a:avLst/>
          </a:prstGeom>
          <a:noFill/>
        </p:spPr>
        <p:txBody>
          <a:bodyPr wrap="square" lIns="0" tIns="0" rIns="0" bIns="0">
            <a:spAutoFit/>
          </a:bodyPr>
          <a:lstStyle/>
          <a:p>
            <a:pPr>
              <a:spcAft>
                <a:spcPts val="200"/>
              </a:spcAft>
              <a:defRPr sz="3000" b="1">
                <a:solidFill>
                  <a:srgbClr val="16A34A"/>
                </a:solidFill>
                <a:latin typeface="Segoe UI"/>
              </a:defRPr>
            </a:pPr>
            <a:r>
              <a:t>4.75 / 5.0</a:t>
            </a:r>
          </a:p>
          <a:p>
            <a:pPr>
              <a:spcAft>
                <a:spcPts val="300"/>
              </a:spcAft>
              <a:defRPr sz="1200" b="1">
                <a:solidFill>
                  <a:srgbClr val="0F172A"/>
                </a:solidFill>
                <a:latin typeface="Segoe UI"/>
              </a:defRPr>
            </a:pPr>
            <a:r>
              <a:t>Memory Description Ease</a:t>
            </a:r>
          </a:p>
          <a:p>
            <a:pPr>
              <a:defRPr sz="1000">
                <a:solidFill>
                  <a:srgbClr val="475569"/>
                </a:solidFill>
                <a:latin typeface="Segoe UI"/>
              </a:defRPr>
            </a:pPr>
            <a:r>
              <a:t>Users felt effortless articulating memories naturally</a:t>
            </a:r>
          </a:p>
        </p:txBody>
      </p:sp>
      <p:sp>
        <p:nvSpPr>
          <p:cNvPr id="6" name="Rounded Rectangle 5"/>
          <p:cNvSpPr/>
          <p:nvPr/>
        </p:nvSpPr>
        <p:spPr>
          <a:xfrm>
            <a:off x="2898648" y="1691640"/>
            <a:ext cx="2039112"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08376" y="1783080"/>
            <a:ext cx="1819656" cy="1645920"/>
          </a:xfrm>
          <a:prstGeom prst="rect">
            <a:avLst/>
          </a:prstGeom>
          <a:noFill/>
        </p:spPr>
        <p:txBody>
          <a:bodyPr wrap="square" lIns="0" tIns="0" rIns="0" bIns="0">
            <a:spAutoFit/>
          </a:bodyPr>
          <a:lstStyle/>
          <a:p>
            <a:pPr>
              <a:spcAft>
                <a:spcPts val="200"/>
              </a:spcAft>
              <a:defRPr sz="3000" b="1">
                <a:solidFill>
                  <a:srgbClr val="1A73E8"/>
                </a:solidFill>
                <a:latin typeface="Segoe UI"/>
              </a:defRPr>
            </a:pPr>
            <a:r>
              <a:t>75%</a:t>
            </a:r>
          </a:p>
          <a:p>
            <a:pPr>
              <a:spcAft>
                <a:spcPts val="300"/>
              </a:spcAft>
              <a:defRPr sz="1200" b="1">
                <a:solidFill>
                  <a:srgbClr val="0F172A"/>
                </a:solidFill>
                <a:latin typeface="Segoe UI"/>
              </a:defRPr>
            </a:pPr>
            <a:r>
              <a:t>AI Understanding Positive</a:t>
            </a:r>
          </a:p>
          <a:p>
            <a:pPr>
              <a:defRPr sz="1000">
                <a:solidFill>
                  <a:srgbClr val="475569"/>
                </a:solidFill>
                <a:latin typeface="Segoe UI"/>
              </a:defRPr>
            </a:pPr>
            <a:r>
              <a:t>3 of 4 participants confirmed AI accurately parsed their intent</a:t>
            </a:r>
          </a:p>
        </p:txBody>
      </p:sp>
      <p:sp>
        <p:nvSpPr>
          <p:cNvPr id="8" name="Rounded Rectangle 7"/>
          <p:cNvSpPr/>
          <p:nvPr/>
        </p:nvSpPr>
        <p:spPr>
          <a:xfrm>
            <a:off x="5065776" y="1691640"/>
            <a:ext cx="2039112"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75504" y="1783080"/>
            <a:ext cx="1819656" cy="1645920"/>
          </a:xfrm>
          <a:prstGeom prst="rect">
            <a:avLst/>
          </a:prstGeom>
          <a:noFill/>
        </p:spPr>
        <p:txBody>
          <a:bodyPr wrap="square" lIns="0" tIns="0" rIns="0" bIns="0">
            <a:spAutoFit/>
          </a:bodyPr>
          <a:lstStyle/>
          <a:p>
            <a:pPr>
              <a:spcAft>
                <a:spcPts val="200"/>
              </a:spcAft>
              <a:defRPr sz="3000" b="1">
                <a:solidFill>
                  <a:srgbClr val="1A73E8"/>
                </a:solidFill>
                <a:latin typeface="Segoe UI"/>
              </a:defRPr>
            </a:pPr>
            <a:r>
              <a:t>4.00 / 5.0</a:t>
            </a:r>
          </a:p>
          <a:p>
            <a:pPr>
              <a:spcAft>
                <a:spcPts val="300"/>
              </a:spcAft>
              <a:defRPr sz="1200" b="1">
                <a:solidFill>
                  <a:srgbClr val="0F172A"/>
                </a:solidFill>
                <a:latin typeface="Segoe UI"/>
              </a:defRPr>
            </a:pPr>
            <a:r>
              <a:t>Candidate Result Relevance</a:t>
            </a:r>
          </a:p>
          <a:p>
            <a:pPr>
              <a:defRPr sz="1000">
                <a:solidFill>
                  <a:srgbClr val="475569"/>
                </a:solidFill>
                <a:latin typeface="Segoe UI"/>
              </a:defRPr>
            </a:pPr>
            <a:r>
              <a:t>75% rated retrieved photo relevance 4 or 5 out of 5</a:t>
            </a:r>
          </a:p>
        </p:txBody>
      </p:sp>
      <p:sp>
        <p:nvSpPr>
          <p:cNvPr id="10" name="Rounded Rectangle 9"/>
          <p:cNvSpPr/>
          <p:nvPr/>
        </p:nvSpPr>
        <p:spPr>
          <a:xfrm>
            <a:off x="7232904" y="1691640"/>
            <a:ext cx="2039112"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42632" y="1783080"/>
            <a:ext cx="1819656" cy="1645920"/>
          </a:xfrm>
          <a:prstGeom prst="rect">
            <a:avLst/>
          </a:prstGeom>
          <a:noFill/>
        </p:spPr>
        <p:txBody>
          <a:bodyPr wrap="square" lIns="0" tIns="0" rIns="0" bIns="0">
            <a:spAutoFit/>
          </a:bodyPr>
          <a:lstStyle/>
          <a:p>
            <a:pPr>
              <a:spcAft>
                <a:spcPts val="200"/>
              </a:spcAft>
              <a:defRPr sz="3000" b="1">
                <a:solidFill>
                  <a:srgbClr val="16A34A"/>
                </a:solidFill>
                <a:latin typeface="Segoe UI"/>
              </a:defRPr>
            </a:pPr>
            <a:r>
              <a:t>4.25 / 5.0</a:t>
            </a:r>
          </a:p>
          <a:p>
            <a:pPr>
              <a:spcAft>
                <a:spcPts val="300"/>
              </a:spcAft>
              <a:defRPr sz="1200" b="1">
                <a:solidFill>
                  <a:srgbClr val="0F172A"/>
                </a:solidFill>
                <a:latin typeface="Segoe UI"/>
              </a:defRPr>
            </a:pPr>
            <a:r>
              <a:t>Refinement Ease</a:t>
            </a:r>
          </a:p>
          <a:p>
            <a:pPr>
              <a:defRPr sz="1000">
                <a:solidFill>
                  <a:srgbClr val="475569"/>
                </a:solidFill>
                <a:latin typeface="Segoe UI"/>
              </a:defRPr>
            </a:pPr>
            <a:r>
              <a:t>Additive clue layering was intuitive and straightforward</a:t>
            </a:r>
          </a:p>
        </p:txBody>
      </p:sp>
      <p:sp>
        <p:nvSpPr>
          <p:cNvPr id="12" name="Rounded Rectangle 11"/>
          <p:cNvSpPr/>
          <p:nvPr/>
        </p:nvSpPr>
        <p:spPr>
          <a:xfrm>
            <a:off x="9400032" y="1691640"/>
            <a:ext cx="2039112"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0" y="1783080"/>
            <a:ext cx="1819656" cy="1645920"/>
          </a:xfrm>
          <a:prstGeom prst="rect">
            <a:avLst/>
          </a:prstGeom>
          <a:noFill/>
        </p:spPr>
        <p:txBody>
          <a:bodyPr wrap="square" lIns="0" tIns="0" rIns="0" bIns="0">
            <a:spAutoFit/>
          </a:bodyPr>
          <a:lstStyle/>
          <a:p>
            <a:pPr>
              <a:spcAft>
                <a:spcPts val="200"/>
              </a:spcAft>
              <a:defRPr sz="3000" b="1">
                <a:solidFill>
                  <a:srgbClr val="0D9488"/>
                </a:solidFill>
                <a:latin typeface="Segoe UI"/>
              </a:defRPr>
            </a:pPr>
            <a:r>
              <a:t>100%</a:t>
            </a:r>
          </a:p>
          <a:p>
            <a:pPr>
              <a:spcAft>
                <a:spcPts val="300"/>
              </a:spcAft>
              <a:defRPr sz="1200" b="1">
                <a:solidFill>
                  <a:srgbClr val="0F172A"/>
                </a:solidFill>
                <a:latin typeface="Segoe UI"/>
              </a:defRPr>
            </a:pPr>
            <a:r>
              <a:t>Explanations Clear</a:t>
            </a:r>
          </a:p>
          <a:p>
            <a:pPr>
              <a:defRPr sz="1000">
                <a:solidFill>
                  <a:srgbClr val="475569"/>
                </a:solidFill>
                <a:latin typeface="Segoe UI"/>
              </a:defRPr>
            </a:pPr>
            <a:r>
              <a:t>3 Yes, 1 Somewhat: all found rationale at least somewhat clear</a:t>
            </a:r>
          </a:p>
        </p:txBody>
      </p:sp>
      <p:sp>
        <p:nvSpPr>
          <p:cNvPr id="14" name="Rounded Rectangle 13"/>
          <p:cNvSpPr/>
          <p:nvPr/>
        </p:nvSpPr>
        <p:spPr>
          <a:xfrm>
            <a:off x="731520" y="3703320"/>
            <a:ext cx="10728655" cy="1371600"/>
          </a:xfrm>
          <a:prstGeom prst="roundRect">
            <a:avLst/>
          </a:prstGeom>
          <a:solidFill>
            <a:srgbClr val="FFEDD5"/>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794760"/>
            <a:ext cx="10180015" cy="1188720"/>
          </a:xfrm>
          <a:prstGeom prst="rect">
            <a:avLst/>
          </a:prstGeom>
          <a:noFill/>
        </p:spPr>
        <p:txBody>
          <a:bodyPr wrap="square" lIns="0" tIns="0" rIns="0" bIns="0">
            <a:spAutoFit/>
          </a:bodyPr>
          <a:lstStyle/>
          <a:p>
            <a:pPr>
              <a:spcAft>
                <a:spcPts val="400"/>
              </a:spcAft>
              <a:defRPr sz="1100" b="1">
                <a:solidFill>
                  <a:srgbClr val="EA580C"/>
                </a:solidFill>
                <a:latin typeface="Segoe UI"/>
              </a:defRPr>
            </a:pPr>
            <a:r>
              <a:t>THE CENTERPIECE QUALITATIVE LEARNING (PARTICIPANT P3)</a:t>
            </a:r>
          </a:p>
          <a:p>
            <a:pPr>
              <a:spcAft>
                <a:spcPts val="400"/>
              </a:spcAft>
              <a:defRPr sz="1900" b="1">
                <a:solidFill>
                  <a:srgbClr val="0F172A"/>
                </a:solidFill>
                <a:latin typeface="Segoe UI"/>
              </a:defRPr>
            </a:pPr>
            <a:r>
              <a:t>“The idea of refining the search was quite useful, but I had to figure out what kind of clue to add next.”</a:t>
            </a:r>
          </a:p>
          <a:p>
            <a:pPr>
              <a:defRPr sz="1200">
                <a:solidFill>
                  <a:srgbClr val="475569"/>
                </a:solidFill>
                <a:latin typeface="Segoe UI"/>
              </a:defRPr>
            </a:pPr>
            <a:r>
              <a:t>Secondary Participant Feedback: Users requested smarter follow-up questions when results were ambiguous.</a:t>
            </a:r>
          </a:p>
        </p:txBody>
      </p:sp>
      <p:sp>
        <p:nvSpPr>
          <p:cNvPr id="16" name="Rounded Rectangle 15"/>
          <p:cNvSpPr/>
          <p:nvPr/>
        </p:nvSpPr>
        <p:spPr>
          <a:xfrm>
            <a:off x="731520" y="5257800"/>
            <a:ext cx="10728655" cy="1143000"/>
          </a:xfrm>
          <a:prstGeom prst="roundRect">
            <a:avLst/>
          </a:prstGeom>
          <a:solidFill>
            <a:srgbClr val="CCFBF1"/>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349240"/>
            <a:ext cx="10180015" cy="960120"/>
          </a:xfrm>
          <a:prstGeom prst="rect">
            <a:avLst/>
          </a:prstGeom>
          <a:noFill/>
        </p:spPr>
        <p:txBody>
          <a:bodyPr wrap="square" lIns="0" tIns="0" rIns="0" bIns="0">
            <a:spAutoFit/>
          </a:bodyPr>
          <a:lstStyle/>
          <a:p>
            <a:pPr>
              <a:spcAft>
                <a:spcPts val="300"/>
              </a:spcAft>
              <a:defRPr sz="1100" b="1">
                <a:solidFill>
                  <a:srgbClr val="0D9488"/>
                </a:solidFill>
                <a:latin typeface="Segoe UI"/>
              </a:defRPr>
            </a:pPr>
            <a:r>
              <a:t>STRATEGIC PRODUCT LEARNING: FROM REACTIVE TO PROACTIVE REFINEMENT</a:t>
            </a:r>
          </a:p>
          <a:p>
            <a:pPr>
              <a:defRPr sz="1250">
                <a:solidFill>
                  <a:srgbClr val="0F172A"/>
                </a:solidFill>
                <a:latin typeface="Segoe UI"/>
              </a:defRPr>
            </a:pPr>
            <a:r>
              <a:t>While reactive refinement (user typing clues) is effective, the next breakthrough is proactive AI guidance. When candidates remain broad, the AI should identify remaining ambiguity across top results and prompt the user with targeted recognition questions ('Was it indoors or outdoors?', 'Who else was in the photo?').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1A73E8"/>
                </a:solidFill>
                <a:latin typeface="Segoe UI"/>
              </a:defRPr>
            </a:pPr>
            <a:r>
              <a:t>PART 7 · SUCCESS METRIC FRAMEWORK &amp; MEASUREMENT HIERARCHY</a:t>
            </a:r>
          </a:p>
          <a:p>
            <a:pPr>
              <a:defRPr sz="2500" b="1">
                <a:solidFill>
                  <a:srgbClr val="0F172A"/>
                </a:solidFill>
                <a:latin typeface="Segoe UI"/>
              </a:defRPr>
            </a:pPr>
            <a:r>
              <a:t>Success Must Measure Both Retrieval Outcome and Progress Across the Journey</a:t>
            </a:r>
          </a:p>
          <a:p>
            <a:pPr>
              <a:spcBef>
                <a:spcPts val="300"/>
              </a:spcBef>
              <a:defRPr sz="1300">
                <a:solidFill>
                  <a:srgbClr val="475569"/>
                </a:solidFill>
                <a:latin typeface="Segoe UI"/>
              </a:defRPr>
            </a:pPr>
            <a:r>
              <a:t>A 3-tier measurement framework connecting core business impact, user journey progress, and system diagnostics</a:t>
            </a:r>
          </a:p>
        </p:txBody>
      </p:sp>
      <p:sp>
        <p:nvSpPr>
          <p:cNvPr id="4" name="Rounded Rectangle 3"/>
          <p:cNvSpPr/>
          <p:nvPr/>
        </p:nvSpPr>
        <p:spPr>
          <a:xfrm>
            <a:off x="731520" y="1691640"/>
            <a:ext cx="10728655" cy="1325880"/>
          </a:xfrm>
          <a:prstGeom prst="roundRect">
            <a:avLst/>
          </a:prstGeom>
          <a:solidFill>
            <a:srgbClr val="E8F0FE"/>
          </a:solidFill>
          <a:ln w="12700">
            <a:solidFill>
              <a:srgbClr val="C2D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83080"/>
            <a:ext cx="10180015" cy="1143000"/>
          </a:xfrm>
          <a:prstGeom prst="rect">
            <a:avLst/>
          </a:prstGeom>
          <a:noFill/>
        </p:spPr>
        <p:txBody>
          <a:bodyPr wrap="square" lIns="0" tIns="0" rIns="0" bIns="0">
            <a:spAutoFit/>
          </a:bodyPr>
          <a:lstStyle/>
          <a:p>
            <a:pPr>
              <a:spcAft>
                <a:spcPts val="200"/>
              </a:spcAft>
              <a:defRPr sz="1100" b="1">
                <a:solidFill>
                  <a:srgbClr val="1A73E8"/>
                </a:solidFill>
                <a:latin typeface="Segoe UI"/>
              </a:defRPr>
            </a:pPr>
            <a:r>
              <a:t>PRIMARY OUTCOME METRIC (NORTH STAR)</a:t>
            </a:r>
          </a:p>
          <a:p>
            <a:pPr>
              <a:spcAft>
                <a:spcPts val="200"/>
              </a:spcAft>
              <a:defRPr sz="2000" b="1">
                <a:solidFill>
                  <a:srgbClr val="0F172A"/>
                </a:solidFill>
                <a:latin typeface="Segoe UI"/>
              </a:defRPr>
            </a:pPr>
            <a:r>
              <a:t>Vague Retrieval Success Rate (VRSR)</a:t>
            </a:r>
          </a:p>
          <a:p>
            <a:pPr>
              <a:defRPr sz="1200">
                <a:solidFill>
                  <a:srgbClr val="475569"/>
                </a:solidFill>
                <a:latin typeface="Segoe UI"/>
              </a:defRPr>
            </a:pPr>
            <a:r>
              <a:t>Percentage of vague-memory retrieval sessions where the user successfully locates their intended photo without resorting to manual timeline scrubbing or external workarounds. (Reliable benchmark to be established via large-scale evaluation).</a:t>
            </a:r>
          </a:p>
        </p:txBody>
      </p:sp>
      <p:sp>
        <p:nvSpPr>
          <p:cNvPr id="6" name="Rounded Rectangle 5"/>
          <p:cNvSpPr/>
          <p:nvPr/>
        </p:nvSpPr>
        <p:spPr>
          <a:xfrm>
            <a:off x="731520" y="3154680"/>
            <a:ext cx="10728655"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246120"/>
            <a:ext cx="10180015" cy="1417320"/>
          </a:xfrm>
          <a:prstGeom prst="rect">
            <a:avLst/>
          </a:prstGeom>
          <a:noFill/>
        </p:spPr>
        <p:txBody>
          <a:bodyPr wrap="square" lIns="0" tIns="0" rIns="0" bIns="0">
            <a:spAutoFit/>
          </a:bodyPr>
          <a:lstStyle/>
          <a:p>
            <a:pPr>
              <a:spcAft>
                <a:spcPts val="600"/>
              </a:spcAft>
              <a:defRPr sz="1100" b="1">
                <a:solidFill>
                  <a:srgbClr val="0D9488"/>
                </a:solidFill>
                <a:latin typeface="Segoe UI"/>
              </a:defRPr>
            </a:pPr>
            <a:r>
              <a:t>LEADING PROGRESS INDICATORS (USER JOURNEY ADVANCEMENT)</a:t>
            </a:r>
          </a:p>
        </p:txBody>
      </p:sp>
      <p:sp>
        <p:nvSpPr>
          <p:cNvPr id="8" name="TextBox 7"/>
          <p:cNvSpPr txBox="1"/>
          <p:nvPr/>
        </p:nvSpPr>
        <p:spPr>
          <a:xfrm>
            <a:off x="1005840" y="3520440"/>
            <a:ext cx="1965960" cy="1097280"/>
          </a:xfrm>
          <a:prstGeom prst="rect">
            <a:avLst/>
          </a:prstGeom>
          <a:noFill/>
        </p:spPr>
        <p:txBody>
          <a:bodyPr wrap="square" lIns="0" tIns="0" rIns="0" bIns="0">
            <a:spAutoFit/>
          </a:bodyPr>
          <a:lstStyle/>
          <a:p>
            <a:pPr>
              <a:defRPr sz="1400" b="1">
                <a:solidFill>
                  <a:srgbClr val="0D9488"/>
                </a:solidFill>
                <a:latin typeface="Segoe UI"/>
              </a:defRPr>
            </a:pPr>
            <a:r>
              <a:t>AMUR</a:t>
            </a:r>
          </a:p>
          <a:p>
            <a:pPr>
              <a:defRPr sz="1100" b="1">
                <a:solidFill>
                  <a:srgbClr val="0F172A"/>
                </a:solidFill>
                <a:latin typeface="Segoe UI"/>
              </a:defRPr>
            </a:pPr>
            <a:r>
              <a:t>AI Memory Understanding Rate</a:t>
            </a:r>
          </a:p>
          <a:p>
            <a:pPr>
              <a:defRPr sz="950">
                <a:solidFill>
                  <a:srgbClr val="475569"/>
                </a:solidFill>
                <a:latin typeface="Segoe UI"/>
              </a:defRPr>
            </a:pPr>
            <a:r>
              <a:t>% sessions where user confirms AI parsed memory accurately</a:t>
            </a:r>
          </a:p>
        </p:txBody>
      </p:sp>
      <p:sp>
        <p:nvSpPr>
          <p:cNvPr id="9" name="TextBox 8"/>
          <p:cNvSpPr txBox="1"/>
          <p:nvPr/>
        </p:nvSpPr>
        <p:spPr>
          <a:xfrm>
            <a:off x="3136392" y="3520440"/>
            <a:ext cx="1965960" cy="1097280"/>
          </a:xfrm>
          <a:prstGeom prst="rect">
            <a:avLst/>
          </a:prstGeom>
          <a:noFill/>
        </p:spPr>
        <p:txBody>
          <a:bodyPr wrap="square" lIns="0" tIns="0" rIns="0" bIns="0">
            <a:spAutoFit/>
          </a:bodyPr>
          <a:lstStyle/>
          <a:p>
            <a:pPr>
              <a:defRPr sz="1400" b="1">
                <a:solidFill>
                  <a:srgbClr val="0D9488"/>
                </a:solidFill>
                <a:latin typeface="Segoe UI"/>
              </a:defRPr>
            </a:pPr>
            <a:r>
              <a:t>CRR@3</a:t>
            </a:r>
          </a:p>
          <a:p>
            <a:pPr>
              <a:defRPr sz="1100" b="1">
                <a:solidFill>
                  <a:srgbClr val="0F172A"/>
                </a:solidFill>
                <a:latin typeface="Segoe UI"/>
              </a:defRPr>
            </a:pPr>
            <a:r>
              <a:t>Candidate Relevance Rate</a:t>
            </a:r>
          </a:p>
          <a:p>
            <a:pPr>
              <a:defRPr sz="950">
                <a:solidFill>
                  <a:srgbClr val="475569"/>
                </a:solidFill>
                <a:latin typeface="Segoe UI"/>
              </a:defRPr>
            </a:pPr>
            <a:r>
              <a:t>% of top-3 retrieved photos matching user memory context</a:t>
            </a:r>
          </a:p>
        </p:txBody>
      </p:sp>
      <p:sp>
        <p:nvSpPr>
          <p:cNvPr id="10" name="TextBox 9"/>
          <p:cNvSpPr txBox="1"/>
          <p:nvPr/>
        </p:nvSpPr>
        <p:spPr>
          <a:xfrm>
            <a:off x="5266944" y="3520440"/>
            <a:ext cx="1965960" cy="1097280"/>
          </a:xfrm>
          <a:prstGeom prst="rect">
            <a:avLst/>
          </a:prstGeom>
          <a:noFill/>
        </p:spPr>
        <p:txBody>
          <a:bodyPr wrap="square" lIns="0" tIns="0" rIns="0" bIns="0">
            <a:spAutoFit/>
          </a:bodyPr>
          <a:lstStyle/>
          <a:p>
            <a:pPr>
              <a:defRPr sz="1400" b="1">
                <a:solidFill>
                  <a:srgbClr val="0D9488"/>
                </a:solidFill>
                <a:latin typeface="Segoe UI"/>
              </a:defRPr>
            </a:pPr>
            <a:r>
              <a:t>RSR</a:t>
            </a:r>
          </a:p>
          <a:p>
            <a:pPr>
              <a:defRPr sz="1100" b="1">
                <a:solidFill>
                  <a:srgbClr val="0F172A"/>
                </a:solidFill>
                <a:latin typeface="Segoe UI"/>
              </a:defRPr>
            </a:pPr>
            <a:r>
              <a:t>Refinement Success Rate</a:t>
            </a:r>
          </a:p>
          <a:p>
            <a:pPr>
              <a:defRPr sz="950">
                <a:solidFill>
                  <a:srgbClr val="475569"/>
                </a:solidFill>
                <a:latin typeface="Segoe UI"/>
              </a:defRPr>
            </a:pPr>
            <a:r>
              <a:t>% of added clues that successfully increase candidate precision</a:t>
            </a:r>
          </a:p>
        </p:txBody>
      </p:sp>
      <p:sp>
        <p:nvSpPr>
          <p:cNvPr id="11" name="TextBox 10"/>
          <p:cNvSpPr txBox="1"/>
          <p:nvPr/>
        </p:nvSpPr>
        <p:spPr>
          <a:xfrm>
            <a:off x="7397496" y="3520440"/>
            <a:ext cx="1965960" cy="1097280"/>
          </a:xfrm>
          <a:prstGeom prst="rect">
            <a:avLst/>
          </a:prstGeom>
          <a:noFill/>
        </p:spPr>
        <p:txBody>
          <a:bodyPr wrap="square" lIns="0" tIns="0" rIns="0" bIns="0">
            <a:spAutoFit/>
          </a:bodyPr>
          <a:lstStyle/>
          <a:p>
            <a:pPr>
              <a:defRPr sz="1400" b="1">
                <a:solidFill>
                  <a:srgbClr val="0D9488"/>
                </a:solidFill>
                <a:latin typeface="Segoe UI"/>
              </a:defRPr>
            </a:pPr>
            <a:r>
              <a:t>QRV</a:t>
            </a:r>
          </a:p>
          <a:p>
            <a:pPr>
              <a:defRPr sz="1100" b="1">
                <a:solidFill>
                  <a:srgbClr val="0F172A"/>
                </a:solidFill>
                <a:latin typeface="Segoe UI"/>
              </a:defRPr>
            </a:pPr>
            <a:r>
              <a:t>Query Reformulation Velocity</a:t>
            </a:r>
          </a:p>
          <a:p>
            <a:pPr>
              <a:defRPr sz="950">
                <a:solidFill>
                  <a:srgbClr val="475569"/>
                </a:solidFill>
                <a:latin typeface="Segoe UI"/>
              </a:defRPr>
            </a:pPr>
            <a:r>
              <a:t>Average steps/seconds needed to converge onto target photo</a:t>
            </a:r>
          </a:p>
        </p:txBody>
      </p:sp>
      <p:sp>
        <p:nvSpPr>
          <p:cNvPr id="12" name="TextBox 11"/>
          <p:cNvSpPr txBox="1"/>
          <p:nvPr/>
        </p:nvSpPr>
        <p:spPr>
          <a:xfrm>
            <a:off x="9528048" y="3520440"/>
            <a:ext cx="1965960" cy="1097280"/>
          </a:xfrm>
          <a:prstGeom prst="rect">
            <a:avLst/>
          </a:prstGeom>
          <a:noFill/>
        </p:spPr>
        <p:txBody>
          <a:bodyPr wrap="square" lIns="0" tIns="0" rIns="0" bIns="0">
            <a:spAutoFit/>
          </a:bodyPr>
          <a:lstStyle/>
          <a:p>
            <a:pPr>
              <a:defRPr sz="1400" b="1">
                <a:solidFill>
                  <a:srgbClr val="0D9488"/>
                </a:solidFill>
                <a:latin typeface="Segoe UI"/>
              </a:defRPr>
            </a:pPr>
            <a:r>
              <a:t>TSR</a:t>
            </a:r>
          </a:p>
          <a:p>
            <a:pPr>
              <a:defRPr sz="1100" b="1">
                <a:solidFill>
                  <a:srgbClr val="0F172A"/>
                </a:solidFill>
                <a:latin typeface="Segoe UI"/>
              </a:defRPr>
            </a:pPr>
            <a:r>
              <a:t>Time to Success</a:t>
            </a:r>
          </a:p>
          <a:p>
            <a:pPr>
              <a:defRPr sz="950">
                <a:solidFill>
                  <a:srgbClr val="475569"/>
                </a:solidFill>
                <a:latin typeface="Segoe UI"/>
              </a:defRPr>
            </a:pPr>
            <a:r>
              <a:t>Active duration from initial prompt to photo selection</a:t>
            </a:r>
          </a:p>
        </p:txBody>
      </p:sp>
      <p:sp>
        <p:nvSpPr>
          <p:cNvPr id="13" name="Rounded Rectangle 12"/>
          <p:cNvSpPr/>
          <p:nvPr/>
        </p:nvSpPr>
        <p:spPr>
          <a:xfrm>
            <a:off x="731520" y="4892040"/>
            <a:ext cx="10728655"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983480"/>
            <a:ext cx="10180015" cy="1325880"/>
          </a:xfrm>
          <a:prstGeom prst="rect">
            <a:avLst/>
          </a:prstGeom>
          <a:noFill/>
        </p:spPr>
        <p:txBody>
          <a:bodyPr wrap="square" lIns="0" tIns="0" rIns="0" bIns="0">
            <a:spAutoFit/>
          </a:bodyPr>
          <a:lstStyle/>
          <a:p>
            <a:pPr>
              <a:spcAft>
                <a:spcPts val="600"/>
              </a:spcAft>
              <a:defRPr sz="1100" b="1">
                <a:solidFill>
                  <a:srgbClr val="EA580C"/>
                </a:solidFill>
                <a:latin typeface="Segoe UI"/>
              </a:defRPr>
            </a:pPr>
            <a:r>
              <a:t>DIAGNOSTIC &amp; GUARDRAIL METRICS (SYSTEM HEALTH)</a:t>
            </a:r>
          </a:p>
        </p:txBody>
      </p:sp>
      <p:sp>
        <p:nvSpPr>
          <p:cNvPr id="15" name="TextBox 14"/>
          <p:cNvSpPr txBox="1"/>
          <p:nvPr/>
        </p:nvSpPr>
        <p:spPr>
          <a:xfrm>
            <a:off x="1005840" y="5257800"/>
            <a:ext cx="1965960" cy="1005840"/>
          </a:xfrm>
          <a:prstGeom prst="rect">
            <a:avLst/>
          </a:prstGeom>
          <a:noFill/>
        </p:spPr>
        <p:txBody>
          <a:bodyPr wrap="square" lIns="0" tIns="0" rIns="0" bIns="0">
            <a:spAutoFit/>
          </a:bodyPr>
          <a:lstStyle/>
          <a:p>
            <a:pPr>
              <a:defRPr sz="1400" b="1">
                <a:solidFill>
                  <a:srgbClr val="EA580C"/>
                </a:solidFill>
                <a:latin typeface="Segoe UI"/>
              </a:defRPr>
            </a:pPr>
            <a:r>
              <a:t>ZHQR</a:t>
            </a:r>
          </a:p>
          <a:p>
            <a:pPr>
              <a:defRPr sz="1100" b="1">
                <a:solidFill>
                  <a:srgbClr val="0F172A"/>
                </a:solidFill>
                <a:latin typeface="Segoe UI"/>
              </a:defRPr>
            </a:pPr>
            <a:r>
              <a:t>Zero-Hit Query Rate</a:t>
            </a:r>
          </a:p>
          <a:p>
            <a:pPr>
              <a:defRPr sz="950">
                <a:solidFill>
                  <a:srgbClr val="475569"/>
                </a:solidFill>
                <a:latin typeface="Segoe UI"/>
              </a:defRPr>
            </a:pPr>
            <a:r>
              <a:t>% queries returning 0 results (identifies vocabulary gaps)</a:t>
            </a:r>
          </a:p>
        </p:txBody>
      </p:sp>
      <p:sp>
        <p:nvSpPr>
          <p:cNvPr id="16" name="TextBox 15"/>
          <p:cNvSpPr txBox="1"/>
          <p:nvPr/>
        </p:nvSpPr>
        <p:spPr>
          <a:xfrm>
            <a:off x="3136392" y="5257800"/>
            <a:ext cx="1965960" cy="1005840"/>
          </a:xfrm>
          <a:prstGeom prst="rect">
            <a:avLst/>
          </a:prstGeom>
          <a:noFill/>
        </p:spPr>
        <p:txBody>
          <a:bodyPr wrap="square" lIns="0" tIns="0" rIns="0" bIns="0">
            <a:spAutoFit/>
          </a:bodyPr>
          <a:lstStyle/>
          <a:p>
            <a:pPr>
              <a:defRPr sz="1400" b="1">
                <a:solidFill>
                  <a:srgbClr val="EA580C"/>
                </a:solidFill>
                <a:latin typeface="Segoe UI"/>
              </a:defRPr>
            </a:pPr>
            <a:r>
              <a:t>RSR-Stall</a:t>
            </a:r>
          </a:p>
          <a:p>
            <a:pPr>
              <a:defRPr sz="1100" b="1">
                <a:solidFill>
                  <a:srgbClr val="0F172A"/>
                </a:solidFill>
                <a:latin typeface="Segoe UI"/>
              </a:defRPr>
            </a:pPr>
            <a:r>
              <a:t>Refinement Stall Rate</a:t>
            </a:r>
          </a:p>
          <a:p>
            <a:pPr>
              <a:defRPr sz="950">
                <a:solidFill>
                  <a:srgbClr val="475569"/>
                </a:solidFill>
                <a:latin typeface="Segoe UI"/>
              </a:defRPr>
            </a:pPr>
            <a:r>
              <a:t>% sessions where added clues fail to narrow down candidate pool</a:t>
            </a:r>
          </a:p>
        </p:txBody>
      </p:sp>
      <p:sp>
        <p:nvSpPr>
          <p:cNvPr id="17" name="TextBox 16"/>
          <p:cNvSpPr txBox="1"/>
          <p:nvPr/>
        </p:nvSpPr>
        <p:spPr>
          <a:xfrm>
            <a:off x="5266944" y="5257800"/>
            <a:ext cx="1965960" cy="1005840"/>
          </a:xfrm>
          <a:prstGeom prst="rect">
            <a:avLst/>
          </a:prstGeom>
          <a:noFill/>
        </p:spPr>
        <p:txBody>
          <a:bodyPr wrap="square" lIns="0" tIns="0" rIns="0" bIns="0">
            <a:spAutoFit/>
          </a:bodyPr>
          <a:lstStyle/>
          <a:p>
            <a:pPr>
              <a:defRPr sz="1400" b="1">
                <a:solidFill>
                  <a:srgbClr val="EA580C"/>
                </a:solidFill>
                <a:latin typeface="Segoe UI"/>
              </a:defRPr>
            </a:pPr>
            <a:r>
              <a:t>EER</a:t>
            </a:r>
          </a:p>
          <a:p>
            <a:pPr>
              <a:defRPr sz="1100" b="1">
                <a:solidFill>
                  <a:srgbClr val="0F172A"/>
                </a:solidFill>
                <a:latin typeface="Segoe UI"/>
              </a:defRPr>
            </a:pPr>
            <a:r>
              <a:t>Evaluation Effort Rate</a:t>
            </a:r>
          </a:p>
          <a:p>
            <a:pPr>
              <a:defRPr sz="950">
                <a:solidFill>
                  <a:srgbClr val="475569"/>
                </a:solidFill>
                <a:latin typeface="Segoe UI"/>
              </a:defRPr>
            </a:pPr>
            <a:r>
              <a:t>Excessive image clicks/enlargements indicating low confidence</a:t>
            </a:r>
          </a:p>
        </p:txBody>
      </p:sp>
      <p:sp>
        <p:nvSpPr>
          <p:cNvPr id="18" name="TextBox 17"/>
          <p:cNvSpPr txBox="1"/>
          <p:nvPr/>
        </p:nvSpPr>
        <p:spPr>
          <a:xfrm>
            <a:off x="7397496" y="5257800"/>
            <a:ext cx="1965960" cy="1005840"/>
          </a:xfrm>
          <a:prstGeom prst="rect">
            <a:avLst/>
          </a:prstGeom>
          <a:noFill/>
        </p:spPr>
        <p:txBody>
          <a:bodyPr wrap="square" lIns="0" tIns="0" rIns="0" bIns="0">
            <a:spAutoFit/>
          </a:bodyPr>
          <a:lstStyle/>
          <a:p>
            <a:pPr>
              <a:defRPr sz="1400" b="1">
                <a:solidFill>
                  <a:srgbClr val="EA580C"/>
                </a:solidFill>
                <a:latin typeface="Segoe UI"/>
              </a:defRPr>
            </a:pPr>
            <a:r>
              <a:t>TFTR</a:t>
            </a:r>
          </a:p>
          <a:p>
            <a:pPr>
              <a:defRPr sz="1100" b="1">
                <a:solidFill>
                  <a:srgbClr val="0F172A"/>
                </a:solidFill>
                <a:latin typeface="Segoe UI"/>
              </a:defRPr>
            </a:pPr>
            <a:r>
              <a:t>Timeline Fallback Rate</a:t>
            </a:r>
          </a:p>
          <a:p>
            <a:pPr>
              <a:defRPr sz="950">
                <a:solidFill>
                  <a:srgbClr val="475569"/>
                </a:solidFill>
                <a:latin typeface="Segoe UI"/>
              </a:defRPr>
            </a:pPr>
            <a:r>
              <a:t>% users abandoning search bar for manual date scrubbing</a:t>
            </a:r>
          </a:p>
        </p:txBody>
      </p:sp>
      <p:sp>
        <p:nvSpPr>
          <p:cNvPr id="19" name="TextBox 18"/>
          <p:cNvSpPr txBox="1"/>
          <p:nvPr/>
        </p:nvSpPr>
        <p:spPr>
          <a:xfrm>
            <a:off x="9528048" y="5257800"/>
            <a:ext cx="1965960" cy="1005840"/>
          </a:xfrm>
          <a:prstGeom prst="rect">
            <a:avLst/>
          </a:prstGeom>
          <a:noFill/>
        </p:spPr>
        <p:txBody>
          <a:bodyPr wrap="square" lIns="0" tIns="0" rIns="0" bIns="0">
            <a:spAutoFit/>
          </a:bodyPr>
          <a:lstStyle/>
          <a:p>
            <a:pPr>
              <a:defRPr sz="1400" b="1">
                <a:solidFill>
                  <a:srgbClr val="EA580C"/>
                </a:solidFill>
                <a:latin typeface="Segoe UI"/>
              </a:defRPr>
            </a:pPr>
            <a:r>
              <a:t>SAR</a:t>
            </a:r>
          </a:p>
          <a:p>
            <a:pPr>
              <a:defRPr sz="1100" b="1">
                <a:solidFill>
                  <a:srgbClr val="0F172A"/>
                </a:solidFill>
                <a:latin typeface="Segoe UI"/>
              </a:defRPr>
            </a:pPr>
            <a:r>
              <a:t>Session Abandonment Rate</a:t>
            </a:r>
          </a:p>
          <a:p>
            <a:pPr>
              <a:defRPr sz="950">
                <a:solidFill>
                  <a:srgbClr val="475569"/>
                </a:solidFill>
                <a:latin typeface="Segoe UI"/>
              </a:defRPr>
            </a:pPr>
            <a:r>
              <a:t>% search sessions ending with exit without photo selection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1A73E8"/>
                </a:solidFill>
                <a:latin typeface="Segoe UI"/>
              </a:defRPr>
            </a:pPr>
            <a:r>
              <a:t>PART 8 · PRODUCT RISKS, MITIGATIONS &amp; BOUNDARIES</a:t>
            </a:r>
          </a:p>
          <a:p>
            <a:pPr>
              <a:defRPr sz="2500" b="1">
                <a:solidFill>
                  <a:srgbClr val="0F172A"/>
                </a:solidFill>
                <a:latin typeface="Segoe UI"/>
              </a:defRPr>
            </a:pPr>
            <a:r>
              <a:t>The MVP Direction is Promising, But Scale, Trust, and Refinement Burden Remain Open Risks</a:t>
            </a:r>
          </a:p>
          <a:p>
            <a:pPr>
              <a:spcBef>
                <a:spcPts val="300"/>
              </a:spcBef>
              <a:defRPr sz="1300">
                <a:solidFill>
                  <a:srgbClr val="475569"/>
                </a:solidFill>
                <a:latin typeface="Segoe UI"/>
              </a:defRPr>
            </a:pPr>
            <a:r>
              <a:t>Proactive risk management matrix addressing cognitive load, privacy, and evaluation boundaries</a:t>
            </a:r>
          </a:p>
        </p:txBody>
      </p:sp>
      <p:sp>
        <p:nvSpPr>
          <p:cNvPr id="4" name="Rounded Rectangle 3"/>
          <p:cNvSpPr/>
          <p:nvPr/>
        </p:nvSpPr>
        <p:spPr>
          <a:xfrm>
            <a:off x="731520" y="169164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92040" cy="1783080"/>
          </a:xfrm>
          <a:prstGeom prst="rect">
            <a:avLst/>
          </a:prstGeom>
          <a:noFill/>
        </p:spPr>
        <p:txBody>
          <a:bodyPr wrap="square" lIns="0" tIns="0" rIns="0" bIns="0">
            <a:spAutoFit/>
          </a:bodyPr>
          <a:lstStyle/>
          <a:p>
            <a:pPr>
              <a:spcAft>
                <a:spcPts val="200"/>
              </a:spcAft>
              <a:defRPr sz="1000" b="1">
                <a:solidFill>
                  <a:srgbClr val="EA580C"/>
                </a:solidFill>
                <a:latin typeface="Segoe UI"/>
              </a:defRPr>
            </a:pPr>
            <a:r>
              <a:t>P0 · USER EXPERIENCE</a:t>
            </a:r>
          </a:p>
          <a:p>
            <a:pPr>
              <a:spcAft>
                <a:spcPts val="400"/>
              </a:spcAft>
              <a:defRPr sz="1400" b="1">
                <a:solidFill>
                  <a:srgbClr val="0F172A"/>
                </a:solidFill>
                <a:latin typeface="Segoe UI"/>
              </a:defRPr>
            </a:pPr>
            <a:r>
              <a:t>Refinement Cognitive Burden (R3)</a:t>
            </a:r>
          </a:p>
          <a:p>
            <a:pPr>
              <a:spcAft>
                <a:spcPts val="200"/>
              </a:spcAft>
              <a:defRPr sz="1100">
                <a:solidFill>
                  <a:srgbClr val="0F172A"/>
                </a:solidFill>
                <a:latin typeface="Segoe UI"/>
              </a:defRPr>
            </a:pPr>
            <a:r>
              <a:t>• Potential Impact: Users struggle to think of additional clues when candidates remain broad, causing session abandonment.</a:t>
            </a:r>
          </a:p>
          <a:p>
            <a:pPr>
              <a:spcAft>
                <a:spcPts val="200"/>
              </a:spcAft>
              <a:defRPr sz="1100">
                <a:solidFill>
                  <a:srgbClr val="475569"/>
                </a:solidFill>
                <a:latin typeface="Segoe UI"/>
              </a:defRPr>
            </a:pPr>
            <a:r>
              <a:t>• Current Mitigation: Built additive query state and 1-click rejection (✕ Not this photo).</a:t>
            </a:r>
          </a:p>
          <a:p>
            <a:pPr>
              <a:defRPr sz="1100">
                <a:solidFill>
                  <a:srgbClr val="0D9488"/>
                </a:solidFill>
                <a:latin typeface="Segoe UI"/>
              </a:defRPr>
            </a:pPr>
            <a:r>
              <a:t>• Future Evolution: Introduce proactive AI suggestion chips based on candidate visual divergence.</a:t>
            </a:r>
          </a:p>
        </p:txBody>
      </p:sp>
      <p:sp>
        <p:nvSpPr>
          <p:cNvPr id="6" name="Rounded Rectangle 5"/>
          <p:cNvSpPr/>
          <p:nvPr/>
        </p:nvSpPr>
        <p:spPr>
          <a:xfrm>
            <a:off x="6217920" y="169164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92040" cy="1783080"/>
          </a:xfrm>
          <a:prstGeom prst="rect">
            <a:avLst/>
          </a:prstGeom>
          <a:noFill/>
        </p:spPr>
        <p:txBody>
          <a:bodyPr wrap="square" lIns="0" tIns="0" rIns="0" bIns="0">
            <a:spAutoFit/>
          </a:bodyPr>
          <a:lstStyle/>
          <a:p>
            <a:pPr>
              <a:spcAft>
                <a:spcPts val="200"/>
              </a:spcAft>
              <a:defRPr sz="1000" b="1">
                <a:solidFill>
                  <a:srgbClr val="EA580C"/>
                </a:solidFill>
                <a:latin typeface="Segoe UI"/>
              </a:defRPr>
            </a:pPr>
            <a:r>
              <a:t>P0 · TRUST &amp; PRIVACY</a:t>
            </a:r>
          </a:p>
          <a:p>
            <a:pPr>
              <a:spcAft>
                <a:spcPts val="400"/>
              </a:spcAft>
              <a:defRPr sz="1400" b="1">
                <a:solidFill>
                  <a:srgbClr val="0F172A"/>
                </a:solidFill>
                <a:latin typeface="Segoe UI"/>
              </a:defRPr>
            </a:pPr>
            <a:r>
              <a:t>Privacy and User Data Trust (R6)</a:t>
            </a:r>
          </a:p>
          <a:p>
            <a:pPr>
              <a:spcAft>
                <a:spcPts val="200"/>
              </a:spcAft>
              <a:defRPr sz="1100">
                <a:solidFill>
                  <a:srgbClr val="0F172A"/>
                </a:solidFill>
                <a:latin typeface="Segoe UI"/>
              </a:defRPr>
            </a:pPr>
            <a:r>
              <a:t>• Potential Impact: Users may be hesitant to share intimate personal memories and photos with cloud AI models.</a:t>
            </a:r>
          </a:p>
          <a:p>
            <a:pPr>
              <a:spcAft>
                <a:spcPts val="200"/>
              </a:spcAft>
              <a:defRPr sz="1100">
                <a:solidFill>
                  <a:srgbClr val="475569"/>
                </a:solidFill>
                <a:latin typeface="Segoe UI"/>
              </a:defRPr>
            </a:pPr>
            <a:r>
              <a:t>• Current Mitigation: Controlled synthetic evaluation dataset; clear zero-retention privacy disclosures.</a:t>
            </a:r>
          </a:p>
          <a:p>
            <a:pPr>
              <a:defRPr sz="1100">
                <a:solidFill>
                  <a:srgbClr val="0D9488"/>
                </a:solidFill>
                <a:latin typeface="Segoe UI"/>
              </a:defRPr>
            </a:pPr>
            <a:r>
              <a:t>• Future Evolution: Privacy-preserving approaches, data minimization, and strong user controls.</a:t>
            </a:r>
          </a:p>
        </p:txBody>
      </p:sp>
      <p:sp>
        <p:nvSpPr>
          <p:cNvPr id="8" name="Rounded Rectangle 7"/>
          <p:cNvSpPr/>
          <p:nvPr/>
        </p:nvSpPr>
        <p:spPr>
          <a:xfrm>
            <a:off x="731520" y="3886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23360"/>
            <a:ext cx="4892040" cy="1783080"/>
          </a:xfrm>
          <a:prstGeom prst="rect">
            <a:avLst/>
          </a:prstGeom>
          <a:noFill/>
        </p:spPr>
        <p:txBody>
          <a:bodyPr wrap="square" lIns="0" tIns="0" rIns="0" bIns="0">
            <a:spAutoFit/>
          </a:bodyPr>
          <a:lstStyle/>
          <a:p>
            <a:pPr>
              <a:spcAft>
                <a:spcPts val="200"/>
              </a:spcAft>
              <a:defRPr sz="1000" b="1">
                <a:solidFill>
                  <a:srgbClr val="1A73E8"/>
                </a:solidFill>
                <a:latin typeface="Segoe UI"/>
              </a:defRPr>
            </a:pPr>
            <a:r>
              <a:t>P1 · SYSTEM GENERALIZATION</a:t>
            </a:r>
          </a:p>
          <a:p>
            <a:pPr>
              <a:spcAft>
                <a:spcPts val="400"/>
              </a:spcAft>
              <a:defRPr sz="1400" b="1">
                <a:solidFill>
                  <a:srgbClr val="0F172A"/>
                </a:solidFill>
                <a:latin typeface="Segoe UI"/>
              </a:defRPr>
            </a:pPr>
            <a:r>
              <a:t>Prototype Scale &amp; Evaluation Generalization (R5)</a:t>
            </a:r>
          </a:p>
          <a:p>
            <a:pPr>
              <a:spcAft>
                <a:spcPts val="200"/>
              </a:spcAft>
              <a:defRPr sz="1100">
                <a:solidFill>
                  <a:srgbClr val="0F172A"/>
                </a:solidFill>
                <a:latin typeface="Segoe UI"/>
              </a:defRPr>
            </a:pPr>
            <a:r>
              <a:t>• Potential Impact: 40-photo dataset cannot prove scalability or collision resistance across large personal libraries.</a:t>
            </a:r>
          </a:p>
          <a:p>
            <a:pPr>
              <a:spcAft>
                <a:spcPts val="200"/>
              </a:spcAft>
              <a:defRPr sz="1100">
                <a:solidFill>
                  <a:srgbClr val="475569"/>
                </a:solidFill>
                <a:latin typeface="Segoe UI"/>
              </a:defRPr>
            </a:pPr>
            <a:r>
              <a:t>• Current Mitigation: Controlled representative benchmark with diverse categories and distractors.</a:t>
            </a:r>
          </a:p>
          <a:p>
            <a:pPr>
              <a:defRPr sz="1100">
                <a:solidFill>
                  <a:srgbClr val="0D9488"/>
                </a:solidFill>
                <a:latin typeface="Segoe UI"/>
              </a:defRPr>
            </a:pPr>
            <a:r>
              <a:t>• Future Evolution: Evaluate scalable semantic retrieval and multi-cue re-ranking against larger photo libraries.</a:t>
            </a:r>
          </a:p>
        </p:txBody>
      </p:sp>
      <p:sp>
        <p:nvSpPr>
          <p:cNvPr id="10" name="Rounded Rectangle 9"/>
          <p:cNvSpPr/>
          <p:nvPr/>
        </p:nvSpPr>
        <p:spPr>
          <a:xfrm>
            <a:off x="6217920" y="3886200"/>
            <a:ext cx="52578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23360"/>
            <a:ext cx="4892040" cy="1783080"/>
          </a:xfrm>
          <a:prstGeom prst="rect">
            <a:avLst/>
          </a:prstGeom>
          <a:noFill/>
        </p:spPr>
        <p:txBody>
          <a:bodyPr wrap="square" lIns="0" tIns="0" rIns="0" bIns="0">
            <a:spAutoFit/>
          </a:bodyPr>
          <a:lstStyle/>
          <a:p>
            <a:pPr>
              <a:spcAft>
                <a:spcPts val="200"/>
              </a:spcAft>
              <a:defRPr sz="1000" b="1">
                <a:solidFill>
                  <a:srgbClr val="1A73E8"/>
                </a:solidFill>
                <a:latin typeface="Segoe UI"/>
              </a:defRPr>
            </a:pPr>
            <a:r>
              <a:t>P1 · AI INTERPRETATION</a:t>
            </a:r>
          </a:p>
          <a:p>
            <a:pPr>
              <a:spcAft>
                <a:spcPts val="400"/>
              </a:spcAft>
              <a:defRPr sz="1400" b="1">
                <a:solidFill>
                  <a:srgbClr val="0F172A"/>
                </a:solidFill>
                <a:latin typeface="Segoe UI"/>
              </a:defRPr>
            </a:pPr>
            <a:r>
              <a:t>AI Memory Misinterpretation &amp; False Positives (R1/R4)</a:t>
            </a:r>
          </a:p>
          <a:p>
            <a:pPr>
              <a:spcAft>
                <a:spcPts val="200"/>
              </a:spcAft>
              <a:defRPr sz="1100">
                <a:solidFill>
                  <a:srgbClr val="0F172A"/>
                </a:solidFill>
                <a:latin typeface="Segoe UI"/>
              </a:defRPr>
            </a:pPr>
            <a:r>
              <a:t>• Potential Impact: Overconfident false matches degrade user trust; AI misinterpreting relative time or companions.</a:t>
            </a:r>
          </a:p>
          <a:p>
            <a:pPr>
              <a:spcAft>
                <a:spcPts val="200"/>
              </a:spcAft>
              <a:defRPr sz="1100">
                <a:solidFill>
                  <a:srgbClr val="475569"/>
                </a:solidFill>
                <a:latin typeface="Segoe UI"/>
              </a:defRPr>
            </a:pPr>
            <a:r>
              <a:t>• Current Mitigation: Strict 8-facet schema validation + transparent 'Why this result?' rationale bullets.</a:t>
            </a:r>
          </a:p>
          <a:p>
            <a:pPr>
              <a:defRPr sz="1100">
                <a:solidFill>
                  <a:srgbClr val="0D9488"/>
                </a:solidFill>
                <a:latin typeface="Segoe UI"/>
              </a:defRPr>
            </a:pPr>
            <a:r>
              <a:t>• Future Evolution: Interactive user confirmation chips to verify extracted cues before execution.</a:t>
            </a:r>
          </a:p>
        </p:txBody>
      </p:sp>
      <p:sp>
        <p:nvSpPr>
          <p:cNvPr id="12" name="Rounded Rectangle 11"/>
          <p:cNvSpPr/>
          <p:nvPr/>
        </p:nvSpPr>
        <p:spPr>
          <a:xfrm>
            <a:off x="731520" y="6035040"/>
            <a:ext cx="10728655" cy="502920"/>
          </a:xfrm>
          <a:prstGeom prst="roundRect">
            <a:avLst/>
          </a:prstGeom>
          <a:solidFill>
            <a:srgbClr val="E8F0FE"/>
          </a:solidFill>
          <a:ln w="12700">
            <a:solidFill>
              <a:srgbClr val="C2D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6080760"/>
            <a:ext cx="10362895" cy="411480"/>
          </a:xfrm>
          <a:prstGeom prst="rect">
            <a:avLst/>
          </a:prstGeom>
          <a:noFill/>
        </p:spPr>
        <p:txBody>
          <a:bodyPr wrap="square" lIns="0" tIns="0" rIns="0" bIns="0">
            <a:spAutoFit/>
          </a:bodyPr>
          <a:lstStyle/>
          <a:p>
            <a:pPr algn="ctr">
              <a:defRPr sz="1050" b="1">
                <a:solidFill>
                  <a:srgbClr val="1A73E8"/>
                </a:solidFill>
                <a:latin typeface="Segoe UI"/>
              </a:defRPr>
            </a:pPr>
            <a:r>
              <a:t>PROTOTYPE SCOPE BOUNDARIES: 40-photo curated representative dataset · N=4 usability study · Desktop web prototype · No live Google account integration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1A73E8"/>
                </a:solidFill>
                <a:latin typeface="Segoe UI"/>
              </a:defRPr>
            </a:pPr>
            <a:r>
              <a:t>PART 9 · STRATEGIC EVOLUTION &amp; THE NEXT PRODUCT OPPORTUNITY</a:t>
            </a:r>
          </a:p>
          <a:p>
            <a:pPr>
              <a:defRPr sz="2500" b="1">
                <a:solidFill>
                  <a:srgbClr val="0F172A"/>
                </a:solidFill>
                <a:latin typeface="Segoe UI"/>
              </a:defRPr>
            </a:pPr>
            <a:r>
              <a:t>The Next Evolution is Not Smarter Search — It is Guided Memory Retrieval</a:t>
            </a:r>
          </a:p>
          <a:p>
            <a:pPr>
              <a:spcBef>
                <a:spcPts val="300"/>
              </a:spcBef>
              <a:defRPr sz="1300">
                <a:solidFill>
                  <a:srgbClr val="475569"/>
                </a:solidFill>
                <a:latin typeface="Segoe UI"/>
              </a:defRPr>
            </a:pPr>
            <a:r>
              <a:t>Transitioning from passive keyword search to multi-cue AI interpretation, and ultimately to proactive guided retrieval</a:t>
            </a:r>
          </a:p>
        </p:txBody>
      </p:sp>
      <p:sp>
        <p:nvSpPr>
          <p:cNvPr id="4" name="Rounded Rectangle 3"/>
          <p:cNvSpPr/>
          <p:nvPr/>
        </p:nvSpPr>
        <p:spPr>
          <a:xfrm>
            <a:off x="731520" y="1691640"/>
            <a:ext cx="3429000"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63240" cy="3291840"/>
          </a:xfrm>
          <a:prstGeom prst="rect">
            <a:avLst/>
          </a:prstGeom>
          <a:noFill/>
        </p:spPr>
        <p:txBody>
          <a:bodyPr wrap="square" lIns="0" tIns="0" rIns="0" bIns="0">
            <a:spAutoFit/>
          </a:bodyPr>
          <a:lstStyle/>
          <a:p>
            <a:pPr>
              <a:spcAft>
                <a:spcPts val="200"/>
              </a:spcAft>
              <a:defRPr sz="1100" b="1">
                <a:solidFill>
                  <a:srgbClr val="475569"/>
                </a:solidFill>
                <a:latin typeface="Segoe UI"/>
              </a:defRPr>
            </a:pPr>
            <a:r>
              <a:t>YESTERDAY</a:t>
            </a:r>
          </a:p>
          <a:p>
            <a:pPr>
              <a:defRPr sz="1800" b="1">
                <a:solidFill>
                  <a:srgbClr val="0F172A"/>
                </a:solidFill>
                <a:latin typeface="Segoe UI"/>
              </a:defRPr>
            </a:pPr>
            <a:r>
              <a:t>Keyword Search</a:t>
            </a:r>
          </a:p>
          <a:p>
            <a:pPr>
              <a:spcAft>
                <a:spcPts val="800"/>
              </a:spcAft>
              <a:defRPr sz="1100">
                <a:solidFill>
                  <a:srgbClr val="475569"/>
                </a:solidFill>
                <a:latin typeface="Segoe UI"/>
              </a:defRPr>
            </a:pPr>
            <a:r>
              <a:t>Rigid Single-Turn Search</a:t>
            </a:r>
          </a:p>
          <a:p>
            <a:pPr>
              <a:spcAft>
                <a:spcPts val="200"/>
              </a:spcAft>
              <a:defRPr sz="1100">
                <a:solidFill>
                  <a:srgbClr val="0F172A"/>
                </a:solidFill>
                <a:latin typeface="Segoe UI"/>
              </a:defRPr>
            </a:pPr>
            <a:r>
              <a:t>• User remembers an episodic moment</a:t>
            </a:r>
          </a:p>
          <a:p>
            <a:pPr>
              <a:spcAft>
                <a:spcPts val="200"/>
              </a:spcAft>
              <a:defRPr sz="1100">
                <a:solidFill>
                  <a:srgbClr val="0F172A"/>
                </a:solidFill>
                <a:latin typeface="Segoe UI"/>
              </a:defRPr>
            </a:pPr>
            <a:r>
              <a:t>• User is forced to guess search keywords</a:t>
            </a:r>
          </a:p>
          <a:p>
            <a:pPr>
              <a:spcAft>
                <a:spcPts val="200"/>
              </a:spcAft>
              <a:defRPr sz="1100">
                <a:solidFill>
                  <a:srgbClr val="0F172A"/>
                </a:solidFill>
                <a:latin typeface="Segoe UI"/>
              </a:defRPr>
            </a:pPr>
            <a:r>
              <a:t>• System returns rigid exact matches</a:t>
            </a:r>
          </a:p>
          <a:p>
            <a:pPr>
              <a:spcAft>
                <a:spcPts val="200"/>
              </a:spcAft>
              <a:defRPr sz="1100">
                <a:solidFill>
                  <a:srgbClr val="0F172A"/>
                </a:solidFill>
                <a:latin typeface="Segoe UI"/>
              </a:defRPr>
            </a:pPr>
            <a:r>
              <a:t>• Query modification clears context</a:t>
            </a:r>
          </a:p>
          <a:p>
            <a:pPr>
              <a:spcAft>
                <a:spcPts val="200"/>
              </a:spcAft>
              <a:defRPr sz="1100">
                <a:solidFill>
                  <a:srgbClr val="0F172A"/>
                </a:solidFill>
                <a:latin typeface="Segoe UI"/>
              </a:defRPr>
            </a:pPr>
            <a:r>
              <a:t>• Fallback to manual timeline scrolling</a:t>
            </a:r>
          </a:p>
          <a:p>
            <a:br/>
            <a:pPr>
              <a:defRPr sz="1050" b="1">
                <a:solidFill>
                  <a:srgbClr val="475569"/>
                </a:solidFill>
                <a:latin typeface="Segoe UI"/>
              </a:defRPr>
            </a:pPr>
            <a:r>
              <a:t>Takeaway: High cognitive load &amp; session abandonment</a:t>
            </a:r>
          </a:p>
        </p:txBody>
      </p:sp>
      <p:sp>
        <p:nvSpPr>
          <p:cNvPr id="6" name="Rounded Rectangle 5"/>
          <p:cNvSpPr/>
          <p:nvPr/>
        </p:nvSpPr>
        <p:spPr>
          <a:xfrm>
            <a:off x="4379976" y="1691640"/>
            <a:ext cx="3429000" cy="3566160"/>
          </a:xfrm>
          <a:prstGeom prst="roundRect">
            <a:avLst/>
          </a:prstGeom>
          <a:solidFill>
            <a:srgbClr val="E8F0FE"/>
          </a:solidFill>
          <a:ln w="12700">
            <a:solidFill>
              <a:srgbClr val="C2D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828800"/>
            <a:ext cx="3063240" cy="3291840"/>
          </a:xfrm>
          <a:prstGeom prst="rect">
            <a:avLst/>
          </a:prstGeom>
          <a:noFill/>
        </p:spPr>
        <p:txBody>
          <a:bodyPr wrap="square" lIns="0" tIns="0" rIns="0" bIns="0">
            <a:spAutoFit/>
          </a:bodyPr>
          <a:lstStyle/>
          <a:p>
            <a:pPr>
              <a:spcAft>
                <a:spcPts val="200"/>
              </a:spcAft>
              <a:defRPr sz="1100" b="1">
                <a:solidFill>
                  <a:srgbClr val="1A73E8"/>
                </a:solidFill>
                <a:latin typeface="Segoe UI"/>
              </a:defRPr>
            </a:pPr>
            <a:r>
              <a:t>TODAY (OUR MVP)</a:t>
            </a:r>
          </a:p>
          <a:p>
            <a:pPr>
              <a:defRPr sz="1800" b="1">
                <a:solidFill>
                  <a:srgbClr val="0F172A"/>
                </a:solidFill>
                <a:latin typeface="Segoe UI"/>
              </a:defRPr>
            </a:pPr>
            <a:r>
              <a:t>Memory Assistant</a:t>
            </a:r>
          </a:p>
          <a:p>
            <a:pPr>
              <a:spcAft>
                <a:spcPts val="800"/>
              </a:spcAft>
              <a:defRPr sz="1100">
                <a:solidFill>
                  <a:srgbClr val="475569"/>
                </a:solidFill>
                <a:latin typeface="Segoe UI"/>
              </a:defRPr>
            </a:pPr>
            <a:r>
              <a:t>Natural Language &amp; Explainability</a:t>
            </a:r>
          </a:p>
          <a:p>
            <a:pPr>
              <a:spcAft>
                <a:spcPts val="200"/>
              </a:spcAft>
              <a:defRPr sz="1100">
                <a:solidFill>
                  <a:srgbClr val="0F172A"/>
                </a:solidFill>
                <a:latin typeface="Segoe UI"/>
              </a:defRPr>
            </a:pPr>
            <a:r>
              <a:t>• User describes memory in natural language</a:t>
            </a:r>
          </a:p>
          <a:p>
            <a:pPr>
              <a:spcAft>
                <a:spcPts val="200"/>
              </a:spcAft>
              <a:defRPr sz="1100">
                <a:solidFill>
                  <a:srgbClr val="0F172A"/>
                </a:solidFill>
                <a:latin typeface="Segoe UI"/>
              </a:defRPr>
            </a:pPr>
            <a:r>
              <a:t>• AI extracts 8 structured episodic cues</a:t>
            </a:r>
          </a:p>
          <a:p>
            <a:pPr>
              <a:spcAft>
                <a:spcPts val="200"/>
              </a:spcAft>
              <a:defRPr sz="1100">
                <a:solidFill>
                  <a:srgbClr val="0F172A"/>
                </a:solidFill>
                <a:latin typeface="Segoe UI"/>
              </a:defRPr>
            </a:pPr>
            <a:r>
              <a:t>• Transparent 'Why this result?' rationale</a:t>
            </a:r>
          </a:p>
          <a:p>
            <a:pPr>
              <a:spcAft>
                <a:spcPts val="200"/>
              </a:spcAft>
              <a:defRPr sz="1100">
                <a:solidFill>
                  <a:srgbClr val="0F172A"/>
                </a:solidFill>
                <a:latin typeface="Segoe UI"/>
              </a:defRPr>
            </a:pPr>
            <a:r>
              <a:t>• Additive clue layering preserves context</a:t>
            </a:r>
          </a:p>
          <a:p>
            <a:pPr>
              <a:spcAft>
                <a:spcPts val="200"/>
              </a:spcAft>
              <a:defRPr sz="1100">
                <a:solidFill>
                  <a:srgbClr val="0F172A"/>
                </a:solidFill>
                <a:latin typeface="Segoe UI"/>
              </a:defRPr>
            </a:pPr>
            <a:r>
              <a:t>• 1-click candidate rejection</a:t>
            </a:r>
          </a:p>
          <a:p>
            <a:br/>
            <a:pPr>
              <a:defRPr sz="1050" b="1">
                <a:solidFill>
                  <a:srgbClr val="1A73E8"/>
                </a:solidFill>
                <a:latin typeface="Segoe UI"/>
              </a:defRPr>
            </a:pPr>
            <a:r>
              <a:t>Takeaway: Preliminary usability evidence; clue guidance needed</a:t>
            </a:r>
          </a:p>
        </p:txBody>
      </p:sp>
      <p:sp>
        <p:nvSpPr>
          <p:cNvPr id="8" name="Rounded Rectangle 7"/>
          <p:cNvSpPr/>
          <p:nvPr/>
        </p:nvSpPr>
        <p:spPr>
          <a:xfrm>
            <a:off x="8028432" y="1691640"/>
            <a:ext cx="3429000" cy="3566160"/>
          </a:xfrm>
          <a:prstGeom prst="roundRect">
            <a:avLst/>
          </a:prstGeom>
          <a:solidFill>
            <a:srgbClr val="CCFBF1"/>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1828800"/>
            <a:ext cx="3063240" cy="3291840"/>
          </a:xfrm>
          <a:prstGeom prst="rect">
            <a:avLst/>
          </a:prstGeom>
          <a:noFill/>
        </p:spPr>
        <p:txBody>
          <a:bodyPr wrap="square" lIns="0" tIns="0" rIns="0" bIns="0">
            <a:spAutoFit/>
          </a:bodyPr>
          <a:lstStyle/>
          <a:p>
            <a:pPr>
              <a:spcAft>
                <a:spcPts val="200"/>
              </a:spcAft>
              <a:defRPr sz="1100" b="1">
                <a:solidFill>
                  <a:srgbClr val="0D9488"/>
                </a:solidFill>
                <a:latin typeface="Segoe UI"/>
              </a:defRPr>
            </a:pPr>
            <a:r>
              <a:t>TOMORROW (NEXT OPPORTUNITY)</a:t>
            </a:r>
          </a:p>
          <a:p>
            <a:pPr>
              <a:defRPr sz="1800" b="1">
                <a:solidFill>
                  <a:srgbClr val="0F172A"/>
                </a:solidFill>
                <a:latin typeface="Segoe UI"/>
              </a:defRPr>
            </a:pPr>
            <a:r>
              <a:t>Guided Retrieval</a:t>
            </a:r>
          </a:p>
          <a:p>
            <a:pPr>
              <a:spcAft>
                <a:spcPts val="800"/>
              </a:spcAft>
              <a:defRPr sz="1100">
                <a:solidFill>
                  <a:srgbClr val="475569"/>
                </a:solidFill>
                <a:latin typeface="Segoe UI"/>
              </a:defRPr>
            </a:pPr>
            <a:r>
              <a:t>Proactive Recognition Prompts</a:t>
            </a:r>
          </a:p>
          <a:p>
            <a:pPr>
              <a:spcAft>
                <a:spcPts val="200"/>
              </a:spcAft>
              <a:defRPr sz="1100">
                <a:solidFill>
                  <a:srgbClr val="0F172A"/>
                </a:solidFill>
                <a:latin typeface="Segoe UI"/>
              </a:defRPr>
            </a:pPr>
            <a:r>
              <a:t>• AI detects remaining candidate ambiguity</a:t>
            </a:r>
          </a:p>
          <a:p>
            <a:pPr>
              <a:spcAft>
                <a:spcPts val="200"/>
              </a:spcAft>
              <a:defRPr sz="1100">
                <a:solidFill>
                  <a:srgbClr val="0F172A"/>
                </a:solidFill>
                <a:latin typeface="Segoe UI"/>
              </a:defRPr>
            </a:pPr>
            <a:r>
              <a:t>• Proactively asks targeted recognition questions:</a:t>
            </a:r>
          </a:p>
          <a:p>
            <a:pPr>
              <a:spcAft>
                <a:spcPts val="200"/>
              </a:spcAft>
              <a:defRPr sz="1100">
                <a:solidFill>
                  <a:srgbClr val="0F172A"/>
                </a:solidFill>
                <a:latin typeface="Segoe UI"/>
              </a:defRPr>
            </a:pPr>
            <a:r>
              <a:t>  – 'Was it indoors or outdoors?'</a:t>
            </a:r>
          </a:p>
          <a:p>
            <a:pPr>
              <a:spcAft>
                <a:spcPts val="200"/>
              </a:spcAft>
              <a:defRPr sz="1100">
                <a:solidFill>
                  <a:srgbClr val="0F172A"/>
                </a:solidFill>
                <a:latin typeface="Segoe UI"/>
              </a:defRPr>
            </a:pPr>
            <a:r>
              <a:t>  – 'Who was with you on that trip?'</a:t>
            </a:r>
          </a:p>
          <a:p>
            <a:pPr>
              <a:spcAft>
                <a:spcPts val="200"/>
              </a:spcAft>
              <a:defRPr sz="1100">
                <a:solidFill>
                  <a:srgbClr val="0F172A"/>
                </a:solidFill>
                <a:latin typeface="Segoe UI"/>
              </a:defRPr>
            </a:pPr>
            <a:r>
              <a:t>  – 'What were you wearing?'</a:t>
            </a:r>
          </a:p>
          <a:p>
            <a:pPr>
              <a:spcAft>
                <a:spcPts val="200"/>
              </a:spcAft>
              <a:defRPr sz="1100">
                <a:solidFill>
                  <a:srgbClr val="0F172A"/>
                </a:solidFill>
                <a:latin typeface="Segoe UI"/>
              </a:defRPr>
            </a:pPr>
            <a:r>
              <a:t>  – 'Was there a specific event or activity?'</a:t>
            </a:r>
          </a:p>
          <a:p>
            <a:pPr>
              <a:spcAft>
                <a:spcPts val="200"/>
              </a:spcAft>
              <a:defRPr sz="1100">
                <a:solidFill>
                  <a:srgbClr val="0F172A"/>
                </a:solidFill>
                <a:latin typeface="Segoe UI"/>
              </a:defRPr>
            </a:pPr>
            <a:r>
              <a:t>• Dynamic multi-cue candidate convergence</a:t>
            </a:r>
          </a:p>
          <a:p>
            <a:br/>
            <a:pPr>
              <a:defRPr sz="1050" b="1">
                <a:solidFill>
                  <a:srgbClr val="0D9488"/>
                </a:solidFill>
                <a:latin typeface="Segoe UI"/>
              </a:defRPr>
            </a:pPr>
            <a:r>
              <a:t>Takeaway: Effortless, conversational memory retrieval</a:t>
            </a:r>
          </a:p>
        </p:txBody>
      </p:sp>
      <p:sp>
        <p:nvSpPr>
          <p:cNvPr id="10" name="Rounded Rectangle 9"/>
          <p:cNvSpPr/>
          <p:nvPr/>
        </p:nvSpPr>
        <p:spPr>
          <a:xfrm>
            <a:off x="731520" y="5394960"/>
            <a:ext cx="10728655"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486400"/>
            <a:ext cx="10180015" cy="914400"/>
          </a:xfrm>
          <a:prstGeom prst="rect">
            <a:avLst/>
          </a:prstGeom>
          <a:noFill/>
        </p:spPr>
        <p:txBody>
          <a:bodyPr wrap="square" lIns="0" tIns="0" rIns="0" bIns="0">
            <a:spAutoFit/>
          </a:bodyPr>
          <a:lstStyle/>
          <a:p>
            <a:pPr>
              <a:spcAft>
                <a:spcPts val="400"/>
              </a:spcAft>
              <a:defRPr sz="1600" b="1">
                <a:solidFill>
                  <a:srgbClr val="1A73E8"/>
                </a:solidFill>
                <a:latin typeface="Segoe UI"/>
              </a:defRPr>
            </a:pPr>
            <a:r>
              <a:t>“From search → to memory understanding → to guided personal retrieval.”</a:t>
            </a:r>
          </a:p>
          <a:p>
            <a:r>
              <a:rPr sz="1150">
                <a:solidFill>
                  <a:srgbClr val="475569"/>
                </a:solidFill>
                <a:latin typeface="Segoe UI"/>
              </a:rPr>
              <a:t>Live Deployed Prototype: </a:t>
            </a:r>
            <a:r>
              <a:rPr sz="1150" b="1">
                <a:solidFill>
                  <a:srgbClr val="1A73E8"/>
                </a:solidFill>
                <a:latin typeface="Segoe UI"/>
                <a:hlinkClick r:id="rId2"/>
              </a:rPr>
              <a:t>https://app-photos-discovery-engine-fa3ckmfdn4mudlheyg2yxs.streamlit.app/</a:t>
            </a:r>
          </a:p>
          <a:p>
            <a:pPr>
              <a:defRPr sz="1100">
                <a:solidFill>
                  <a:srgbClr val="64748B"/>
                </a:solidFill>
                <a:latin typeface="Segoe UI"/>
              </a:defRPr>
            </a:pPr>
            <a:r>
              <a:t>Supporting Case Study Artifacts: Discovery Engine (Part 1) · Metric Decomposition (Part 2) · User Research (Part 3) · Usability Benchmark (Part 6) · Metric Hierarchy (Part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